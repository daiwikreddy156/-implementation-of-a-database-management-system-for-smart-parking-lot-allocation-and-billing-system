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3: Final system" id="{0059edd0-7175-582b-fb11-9f5a0103106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Occupancy by time of day (%, sample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Occupancy %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6 AM</c:v>
                  </c:pt>
                  <c:pt idx="1">
                    <c:v>8 AM</c:v>
                  </c:pt>
                  <c:pt idx="2">
                    <c:v>10 AM</c:v>
                  </c:pt>
                  <c:pt idx="3">
                    <c:v>12 PM</c:v>
                  </c:pt>
                  <c:pt idx="4">
                    <c:v>2 PM</c:v>
                  </c:pt>
                  <c:pt idx="5">
                    <c:v>4 PM</c:v>
                  </c:pt>
                  <c:pt idx="6">
                    <c:v>6 PM</c:v>
                  </c:pt>
                  <c:pt idx="7">
                    <c:v>8 PM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60</c:v>
                </c:pt>
                <c:pt idx="2">
                  <c:v>85</c:v>
                </c:pt>
                <c:pt idx="3">
                  <c:v>70</c:v>
                </c:pt>
                <c:pt idx="4">
                  <c:v>65</c:v>
                </c:pt>
                <c:pt idx="5">
                  <c:v>78</c:v>
                </c:pt>
                <c:pt idx="6">
                  <c:v>90</c:v>
                </c:pt>
                <c:pt idx="7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F5D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F5D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review: the complete system with concurrency control, advanced pricing, security, reports and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review adds capability on top of the previous one. Review 3 makes the system production-ready.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interact through simple forms. All rules sit inside the DBMS. Slot sensors are simulated by inserting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grouped by module. Asterisk marks tables added in Review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business features added in the final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cars arriving together must never get the same slot. SKIP LOCKED lets the second car take the next free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allocation query filters on status and type, so a composite index avoids full table scans. Views give ready-made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 with least privilege, an audit trigger on sensitive tables, and regular backups.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uses sample data to show the kind of report the dashboard produces. Replace with your own seeded data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Scenarios that prove the Review 3 features. Run each one live or show the recorded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these five steps on a pre-loaded sample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view of how the project grew.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achievements, then mention how the system could be extended.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96012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Smart Parking DBMS  |  Review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 Management System – PBL  |  Review 3</a:t>
            </a:r>
            <a:endParaRPr lang="en-US" sz="1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9601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Design and Implementation of a Database Management System for Smart Parking Lot Allocation and Billing System</a:t>
            </a:r>
            <a:endParaRPr lang="en-US" sz="3000" dirty="0"/>
          </a:p>
        </p:txBody>
      </p:sp>
      <p:sp>
        <p:nvSpPr>
          <p:cNvPr id="4" name="Author card"/>
          <p:cNvSpPr/>
          <p:nvPr/>
        </p:nvSpPr>
        <p:spPr>
          <a:xfrm>
            <a:off x="457200" y="3291840"/>
            <a:ext cx="5394960" cy="146304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G. DAIWIK REDDY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AI-ML RHINOS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15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25WU0102340</a:t>
            </a:r>
            <a:endParaRPr lang="en-US" sz="1600" dirty="0"/>
          </a:p>
        </p:txBody>
      </p:sp>
      <p:sp>
        <p:nvSpPr>
          <p:cNvPr id="9" name="Icon circle"/>
          <p:cNvSpPr/>
          <p:nvPr/>
        </p:nvSpPr>
        <p:spPr>
          <a:xfrm>
            <a:off x="6949440" y="324612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Park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0" y="3634740"/>
            <a:ext cx="777240" cy="777240"/>
          </a:xfrm>
          <a:prstGeom prst="rect">
            <a:avLst/>
          </a:prstGeom>
        </p:spPr>
      </p:pic>
      <p:sp>
        <p:nvSpPr>
          <p:cNvPr id="11" name="Icon circle"/>
          <p:cNvSpPr/>
          <p:nvPr/>
        </p:nvSpPr>
        <p:spPr>
          <a:xfrm>
            <a:off x="6400800" y="4069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Ca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4240530"/>
            <a:ext cx="342900" cy="342900"/>
          </a:xfrm>
          <a:prstGeom prst="rect">
            <a:avLst/>
          </a:prstGeom>
        </p:spPr>
      </p:pic>
      <p:sp>
        <p:nvSpPr>
          <p:cNvPr id="14" name="Text 1"/>
          <p:cNvSpPr/>
          <p:nvPr>
            <p:ph idx="102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Journey so far: three reviews</a:t>
            </a:r>
            <a:endParaRPr lang="en-US" sz="3000" dirty="0"/>
          </a:p>
        </p:txBody>
      </p:sp>
      <p:sp>
        <p:nvSpPr>
          <p:cNvPr id="4" name="Review header"/>
          <p:cNvSpPr/>
          <p:nvPr/>
        </p:nvSpPr>
        <p:spPr>
          <a:xfrm>
            <a:off x="45720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1  ·  4 tables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96596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2148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 design and schema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 slot allocation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Flat hourly billing</a:t>
            </a:r>
            <a:endParaRPr lang="en-US" sz="1400" dirty="0"/>
          </a:p>
        </p:txBody>
      </p:sp>
      <p:pic>
        <p:nvPicPr>
          <p:cNvPr id="8" name="Image 0" descr="Progress arr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096" y="2697480"/>
            <a:ext cx="201168" cy="201168"/>
          </a:xfrm>
          <a:prstGeom prst="rect">
            <a:avLst/>
          </a:prstGeom>
        </p:spPr>
      </p:pic>
      <p:sp>
        <p:nvSpPr>
          <p:cNvPr id="9" name="Review header"/>
          <p:cNvSpPr/>
          <p:nvPr/>
        </p:nvSpPr>
        <p:spPr>
          <a:xfrm>
            <a:off x="329184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29184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2  ·  8 tables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3291840" y="196596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520440" y="2148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Normalized to 3NF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Procedures and triggers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Tariff, grace and daily cap</a:t>
            </a:r>
            <a:endParaRPr lang="en-US" sz="1400" dirty="0"/>
          </a:p>
        </p:txBody>
      </p:sp>
      <p:pic>
        <p:nvPicPr>
          <p:cNvPr id="13" name="Image 1" descr="Progress 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697480"/>
            <a:ext cx="201168" cy="201168"/>
          </a:xfrm>
          <a:prstGeom prst="rect">
            <a:avLst/>
          </a:prstGeom>
        </p:spPr>
      </p:pic>
      <p:sp>
        <p:nvSpPr>
          <p:cNvPr id="14" name="Review header"/>
          <p:cNvSpPr/>
          <p:nvPr/>
        </p:nvSpPr>
        <p:spPr>
          <a:xfrm>
            <a:off x="612648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12648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3  ·  13 tables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6126480" y="196596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355080" y="2148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Concurrency-safe allocation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Pricing, passes, penalties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Roles, audit, reports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Each review keeps everything from the one before and adds to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Final system architecture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3774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Us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61163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86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Driver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Attendant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</a:t>
            </a:r>
            <a:endParaRPr lang="en-US" sz="1400" dirty="0"/>
          </a:p>
        </p:txBody>
      </p:sp>
      <p:pic>
        <p:nvPicPr>
          <p:cNvPr id="9" name="Image 1" descr="Data flow 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240280"/>
            <a:ext cx="329184" cy="329184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3383280" y="1280160"/>
            <a:ext cx="23774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361188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Deskto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470" y="1611630"/>
            <a:ext cx="297180" cy="2971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34340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3611880" y="2286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Entry and exit forms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Reservation screen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 dashboard</a:t>
            </a:r>
            <a:endParaRPr lang="en-US" sz="1400" dirty="0"/>
          </a:p>
        </p:txBody>
      </p:sp>
      <p:pic>
        <p:nvPicPr>
          <p:cNvPr id="15" name="Image 3" descr="Data flow arr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240280"/>
            <a:ext cx="329184" cy="329184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6309360" y="1280160"/>
            <a:ext cx="23774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653796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4" descr="Databas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1611630"/>
            <a:ext cx="297180" cy="2971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26948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DBMS layer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6537960" y="2286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 tables in 3NF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Procedures, triggers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Views, indexes, roles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6309360" y="374904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6446520" y="3749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Slot sensor events (simulated)</a:t>
            </a:r>
            <a:endParaRPr lang="en-US" sz="1300" dirty="0"/>
          </a:p>
        </p:txBody>
      </p:sp>
      <p:pic>
        <p:nvPicPr>
          <p:cNvPr id="23" name="Image 5" descr="Sensor feed 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493008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57200" y="3749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Every client gets the same behaviour because the rules live in the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Final schema: 13 tables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920240" cy="28346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Databa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280160" y="17830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Master data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4231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Vehicle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ParkingLot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ParkingSlot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2560320" y="1280160"/>
            <a:ext cx="1920240" cy="28346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274320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ark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6002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383280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Allocation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383280" y="17830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Who parks where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743200" y="24231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Reservation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ParkingTicket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SlotSensorEvent*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663440" y="1280160"/>
            <a:ext cx="1920240" cy="28346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484632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MoneyBillWav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002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Billing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0" y="17830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Money and pricing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846320" y="24231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Tariff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Payment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Membership*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Penalty*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6766560" y="1280160"/>
            <a:ext cx="1920240" cy="28346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3" name="Icon circle"/>
          <p:cNvSpPr/>
          <p:nvPr/>
        </p:nvSpPr>
        <p:spPr>
          <a:xfrm>
            <a:off x="69494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UserShiel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002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589520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Security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589520" y="17830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Who did what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949440" y="24231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Staff*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AuditLog*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13 tables  ·  * added in Review 3  ·  all in 3NF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Advanced features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alendar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516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Reservations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Hold a slot in advance; unclaimed holds expire automatically.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892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Bo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8516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Dynamic pricing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76072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peak-hour multiplier is applied on top of the base tariff.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8580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IdCar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4975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Memberships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pass holders get a discount on every bill.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ExclamationTriang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6072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Overstay penalty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76072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 charge when a reservation or pass limit is exceeded.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Transactions and concurrency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8404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8877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cars read the same slot as free and both get it: double allocation.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788920"/>
            <a:ext cx="38404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fix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31012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transaction: all or nothing (ACID)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SKIP LOCKED passes over rows locked by other cars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COMMIT saves slot and ticket together</a:t>
            </a:r>
            <a:endParaRPr lang="en-US" sz="1300" dirty="0"/>
          </a:p>
        </p:txBody>
      </p:sp>
      <p:sp>
        <p:nvSpPr>
          <p:cNvPr id="12" name="Code card"/>
          <p:cNvSpPr/>
          <p:nvPr/>
        </p:nvSpPr>
        <p:spPr>
          <a:xfrm>
            <a:off x="4526280" y="1280160"/>
            <a:ext cx="4160520" cy="3246120"/>
          </a:xfrm>
          <a:prstGeom prst="roundRect">
            <a:avLst>
              <a:gd name="adj" fmla="val 2817"/>
            </a:avLst>
          </a:prstGeom>
          <a:solidFill>
            <a:schemeClr val="tx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709160" y="1417320"/>
            <a:ext cx="3794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slot_id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ParkingSlot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 =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'AVAILABLE'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slot_type =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'CAR'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floor_no, dist_to_entry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LOCKED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ParkingSlot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 =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'OCCUPIED'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slot_id = @slot;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ParkingTicket (...)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(...);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Indexes and views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Tachometer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4305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Indexes</a:t>
            </a:r>
            <a:endParaRPr lang="en-US" sz="1800" dirty="0"/>
          </a:p>
        </p:txBody>
      </p:sp>
      <p:sp>
        <p:nvSpPr>
          <p:cNvPr id="8" name="Code card"/>
          <p:cNvSpPr/>
          <p:nvPr/>
        </p:nvSpPr>
        <p:spPr>
          <a:xfrm>
            <a:off x="640080" y="2103120"/>
            <a:ext cx="3657600" cy="1600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224028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idx_slot_status_type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ParkingSlot (status, slot_type);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idx_ticket_open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ParkingTicket (exit_time);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idx_vehicle_plate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 (plate_no);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Why: faster slot search and faster lookup of vehicles still parked.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484632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Ey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5430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Views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vw_available_slots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Free slots per lot and type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vw_active_sessions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Vehicles currently parked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vw_daily_revenue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Revenue grouped by 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Security and integrity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Allowed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Restricted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All tables, tariffs and staff accounts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No restriction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attendant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Create tickets, record payments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Cannot change tariffs or delete records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auditor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Read-only reports and AuditLog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Cannot modify any table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457200" y="342900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User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3737610"/>
            <a:ext cx="251460" cy="2514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8016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Role-based access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128016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GRANT limits each role.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291840" y="342900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3474720" y="3611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ClipboardLis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3737610"/>
            <a:ext cx="251460" cy="2514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11480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Audit trail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411480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Triggers log changes to Payment and Tariff.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26480" y="342900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6309360" y="3611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Sav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3737610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4944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Backups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694944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Scheduled dumps protect the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Reports and analytics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126480" y="1280160"/>
            <a:ext cx="2560320" cy="32004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35508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Reports provided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355080" y="19659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Peak-hour occupancy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Daily revenue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Average stay duration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Most-used slot types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Testing the final system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Two entries at once, one free slot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One ticket issued; the other gets LOT FULL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Reservation not claimed in 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Hold expires; slot returns to AVAILABLE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Exit during peak hours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Fee uses the peak multiplier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Member exits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Membership discount is applied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Attendant edits a tariff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Denied by role permissions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T6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A payment row is updated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Change is recorded in AuditLog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Demo walkthrough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463040"/>
            <a:ext cx="1499616" cy="219456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5" name="Number badge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Register vehicle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Vehicle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2139696" y="1463040"/>
            <a:ext cx="1499616" cy="219456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0" name="Number badge"/>
          <p:cNvSpPr/>
          <p:nvPr/>
        </p:nvSpPr>
        <p:spPr>
          <a:xfrm>
            <a:off x="2322576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2257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2322576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Reserve or enter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322576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sp_reserve_slot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3822192" y="1463040"/>
            <a:ext cx="1499616" cy="219456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5" name="Number badge"/>
          <p:cNvSpPr/>
          <p:nvPr/>
        </p:nvSpPr>
        <p:spPr>
          <a:xfrm>
            <a:off x="4005072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00507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005072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Auto-allocate slot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005072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sp_allocate_slot</a:t>
            </a:r>
            <a:endParaRPr lang="en-US" sz="1000" dirty="0"/>
          </a:p>
        </p:txBody>
      </p:sp>
      <p:sp>
        <p:nvSpPr>
          <p:cNvPr id="19" name="Card"/>
          <p:cNvSpPr/>
          <p:nvPr/>
        </p:nvSpPr>
        <p:spPr>
          <a:xfrm>
            <a:off x="5504688" y="1463040"/>
            <a:ext cx="1499616" cy="219456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0" name="Number badge"/>
          <p:cNvSpPr/>
          <p:nvPr/>
        </p:nvSpPr>
        <p:spPr>
          <a:xfrm>
            <a:off x="5687568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8756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687568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Exit and pay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87568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sp_close_ticket</a:t>
            </a:r>
            <a:endParaRPr lang="en-US" sz="1000" dirty="0"/>
          </a:p>
        </p:txBody>
      </p:sp>
      <p:sp>
        <p:nvSpPr>
          <p:cNvPr id="24" name="Card"/>
          <p:cNvSpPr/>
          <p:nvPr/>
        </p:nvSpPr>
        <p:spPr>
          <a:xfrm>
            <a:off x="7187184" y="1463040"/>
            <a:ext cx="1499616" cy="219456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5" name="Number badge"/>
          <p:cNvSpPr/>
          <p:nvPr/>
        </p:nvSpPr>
        <p:spPr>
          <a:xfrm>
            <a:off x="7370064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37006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370064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 reports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370064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vw_daily_revenue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Each step calls a database object built in Review 2 or Review 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Review 1 vs 2 vs 3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2194560"/>
                <a:gridCol w="2651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Review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Review 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Review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Tables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Design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ER and basic schema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3NF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3NF with indexes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Slot allocation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First free slot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Nearest slot by 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Concurrency-safe, with reservations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Billing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Flat hourly 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Tariff, grace, daily cap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Peak pricing, discounts, penalties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Security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Constraints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Roles and audit log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Reports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Basic queries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Views and analytics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scope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relational database now automates parking slot allocation and billing, enforces rules with constraints, procedures and triggers, prevents double booking with transactions, and reports usage through views.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8288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Mobile app with QR-code tickets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Real sensors and number-plate recognition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Online payments such as UPI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Multi-lot, cloud deployment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Parking">
  <a:themeElements>
    <a:clrScheme name="Smart Parking">
      <a:dk1>
        <a:srgbClr val="14213D"/>
      </a:dk1>
      <a:lt1>
        <a:srgbClr val="FFFFFF"/>
      </a:lt1>
      <a:dk2>
        <a:srgbClr val="1D3557"/>
      </a:dk2>
      <a:lt2>
        <a:srgbClr val="EEF2F7"/>
      </a:lt2>
      <a:accent1>
        <a:srgbClr val="FCA311"/>
      </a:accent1>
      <a:accent2>
        <a:srgbClr val="2A9D8F"/>
      </a:accent2>
      <a:accent3>
        <a:srgbClr val="3A6EA5"/>
      </a:accent3>
      <a:accent4>
        <a:srgbClr val="C8553D"/>
      </a:accent4>
      <a:accent5>
        <a:srgbClr val="4F5D75"/>
      </a:accent5>
      <a:accent6>
        <a:srgbClr val="8AB17D"/>
      </a:accent6>
      <a:hlink>
        <a:srgbClr val="3A6EA5"/>
      </a:hlink>
      <a:folHlink>
        <a:srgbClr val="4F5D75"/>
      </a:folHlink>
    </a:clrScheme>
    <a:fontScheme name="Smart Park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DBMS - Review 3</dc:title>
  <dc:subject>PptxGenJS Presentation</dc:subject>
  <dc:creator>PptxGenJS</dc:creator>
  <cp:lastModifiedBy>PptxGenJS</cp:lastModifiedBy>
  <cp:revision>1</cp:revision>
  <dcterms:created xsi:type="dcterms:W3CDTF">2026-10-13T21:40:21Z</dcterms:created>
  <dcterms:modified xsi:type="dcterms:W3CDTF">2026-10-13T21:40:21Z</dcterms:modified>
</cp:coreProperties>
</file>