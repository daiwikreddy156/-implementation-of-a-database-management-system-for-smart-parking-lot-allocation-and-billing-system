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2: Enhanced design and implementation" id="{922061a4-e70b-148d-a1e5-bd038f960f8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2 builds on the Review 1 design: a richer schema, normalization, SQL implementation, allocation and billing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recap Review 1, then highlight that the schema grows from four to eight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entities are new in Review 2. Ticket sits at the centre and links vehicle, slot and payment. Tariff drives billing.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unnormalized table and how each normal form removes redundancy.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representative tables. Constraints enforce integrity inside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nearest free slot of the matching type is chosen and locked. If nothing is returned the lot is full.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fee uses a grace period, an hourly rate rounded up to whole hours, and a daily 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rules live in the database, so every client gets the same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typical operational queries: availability, current occupancy and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scenarios will be executed with seed data; results to be shown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final review: concurrency, pricing, security, reports and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96012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Smart Parking DBMS  |  Review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Database Management System – PBL  |  Review 2</a:t>
            </a:r>
            <a:endParaRPr lang="en-US" sz="1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9601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Design and Implementation of a Database Management System for Smart Parking Lot Allocation and Billing System</a:t>
            </a:r>
            <a:endParaRPr lang="en-US" sz="3000" dirty="0"/>
          </a:p>
        </p:txBody>
      </p:sp>
      <p:sp>
        <p:nvSpPr>
          <p:cNvPr id="4" name="Author card"/>
          <p:cNvSpPr/>
          <p:nvPr/>
        </p:nvSpPr>
        <p:spPr>
          <a:xfrm>
            <a:off x="457200" y="3291840"/>
            <a:ext cx="5394960" cy="146304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429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G. DAIWIK REDDY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AI-ML RHINOS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15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25WU0102340</a:t>
            </a:r>
            <a:endParaRPr lang="en-US" sz="1600" dirty="0"/>
          </a:p>
        </p:txBody>
      </p:sp>
      <p:sp>
        <p:nvSpPr>
          <p:cNvPr id="9" name="Icon circle"/>
          <p:cNvSpPr/>
          <p:nvPr/>
        </p:nvSpPr>
        <p:spPr>
          <a:xfrm>
            <a:off x="6949440" y="324612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Park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0" y="3634740"/>
            <a:ext cx="777240" cy="777240"/>
          </a:xfrm>
          <a:prstGeom prst="rect">
            <a:avLst/>
          </a:prstGeom>
        </p:spPr>
      </p:pic>
      <p:sp>
        <p:nvSpPr>
          <p:cNvPr id="11" name="Icon circle"/>
          <p:cNvSpPr/>
          <p:nvPr/>
        </p:nvSpPr>
        <p:spPr>
          <a:xfrm>
            <a:off x="6400800" y="4069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Ca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4240530"/>
            <a:ext cx="342900" cy="342900"/>
          </a:xfrm>
          <a:prstGeom prst="rect">
            <a:avLst/>
          </a:prstGeom>
        </p:spPr>
      </p:pic>
      <p:sp>
        <p:nvSpPr>
          <p:cNvPr id="14" name="Text 1"/>
          <p:cNvSpPr/>
          <p:nvPr>
            <p:ph idx="102" type="body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Recap: from Review 1 to Review 2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2004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Completed in Review 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1031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Problem statement and objectives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Four-table ER design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Entry and exit workflow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Basic billing idea</a:t>
            </a:r>
            <a:endParaRPr lang="en-US" sz="1400" dirty="0"/>
          </a:p>
        </p:txBody>
      </p:sp>
      <p:sp>
        <p:nvSpPr>
          <p:cNvPr id="7" name="Stat callout"/>
          <p:cNvSpPr/>
          <p:nvPr/>
        </p:nvSpPr>
        <p:spPr>
          <a:xfrm>
            <a:off x="3840480" y="2148840"/>
            <a:ext cx="1463040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84048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 → 8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tables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0" y="1280160"/>
            <a:ext cx="32004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150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New in Review 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1031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Users, lots, reservations, tariffs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Normalization to 3NF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Smart allocation and billing logic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Procedures, triggers and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Enhanced ER diagram</a:t>
            </a:r>
            <a:endParaRPr lang="en-US" sz="3000" dirty="0"/>
          </a:p>
        </p:txBody>
      </p:sp>
      <p:sp>
        <p:nvSpPr>
          <p:cNvPr id="4" name="Entity User"/>
          <p:cNvSpPr/>
          <p:nvPr/>
        </p:nvSpPr>
        <p:spPr>
          <a:xfrm>
            <a:off x="457200" y="1051560"/>
            <a:ext cx="2194560" cy="104241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Entity header User"/>
          <p:cNvSpPr/>
          <p:nvPr/>
        </p:nvSpPr>
        <p:spPr>
          <a:xfrm>
            <a:off x="457200" y="1051560"/>
            <a:ext cx="2194560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051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User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353312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user_id (PK)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full_name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phone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email</a:t>
            </a:r>
            <a:endParaRPr lang="en-US" sz="1000" dirty="0"/>
          </a:p>
        </p:txBody>
      </p:sp>
      <p:sp>
        <p:nvSpPr>
          <p:cNvPr id="8" name="Entity Reservation"/>
          <p:cNvSpPr/>
          <p:nvPr/>
        </p:nvSpPr>
        <p:spPr>
          <a:xfrm>
            <a:off x="3474720" y="1051560"/>
            <a:ext cx="2194560" cy="104241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Entity header Reservation"/>
          <p:cNvSpPr/>
          <p:nvPr/>
        </p:nvSpPr>
        <p:spPr>
          <a:xfrm>
            <a:off x="3474720" y="1051560"/>
            <a:ext cx="2194560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74720" y="1051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Reservation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584448" y="1353312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reservation_id (PK)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vehicle_id (FK)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slot_id (FK)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reserved_from</a:t>
            </a:r>
            <a:endParaRPr lang="en-US" sz="1000" dirty="0"/>
          </a:p>
        </p:txBody>
      </p:sp>
      <p:sp>
        <p:nvSpPr>
          <p:cNvPr id="12" name="Entity Vehicle"/>
          <p:cNvSpPr/>
          <p:nvPr/>
        </p:nvSpPr>
        <p:spPr>
          <a:xfrm>
            <a:off x="457200" y="2377440"/>
            <a:ext cx="2194560" cy="104241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3" name="Entity header Vehicle"/>
          <p:cNvSpPr/>
          <p:nvPr/>
        </p:nvSpPr>
        <p:spPr>
          <a:xfrm>
            <a:off x="457200" y="2377440"/>
            <a:ext cx="2194560" cy="25603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Vehicle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2679192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vehicle_id (PK)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user_id (FK)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plate_no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vehicle_type</a:t>
            </a:r>
            <a:endParaRPr lang="en-US" sz="1000" dirty="0"/>
          </a:p>
        </p:txBody>
      </p:sp>
      <p:sp>
        <p:nvSpPr>
          <p:cNvPr id="16" name="Entity ParkingTicket"/>
          <p:cNvSpPr/>
          <p:nvPr/>
        </p:nvSpPr>
        <p:spPr>
          <a:xfrm>
            <a:off x="3474720" y="2377440"/>
            <a:ext cx="2194560" cy="104241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7" name="Entity header ParkingTicket"/>
          <p:cNvSpPr/>
          <p:nvPr/>
        </p:nvSpPr>
        <p:spPr>
          <a:xfrm>
            <a:off x="3474720" y="2377440"/>
            <a:ext cx="2194560" cy="25603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47472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ParkingTicket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584448" y="2679192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ticket_id (PK)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vehicle_id (FK)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slot_id (FK)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entry_time, exit_time</a:t>
            </a:r>
            <a:endParaRPr lang="en-US" sz="1000" dirty="0"/>
          </a:p>
        </p:txBody>
      </p:sp>
      <p:sp>
        <p:nvSpPr>
          <p:cNvPr id="20" name="Entity ParkingSlot"/>
          <p:cNvSpPr/>
          <p:nvPr/>
        </p:nvSpPr>
        <p:spPr>
          <a:xfrm>
            <a:off x="6492240" y="2377440"/>
            <a:ext cx="2194560" cy="104241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1" name="Entity header ParkingSlot"/>
          <p:cNvSpPr/>
          <p:nvPr/>
        </p:nvSpPr>
        <p:spPr>
          <a:xfrm>
            <a:off x="6492240" y="2377440"/>
            <a:ext cx="2194560" cy="25603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9224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ParkingSlot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679192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slot_id (PK)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lot_id (FK)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slot_type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status</a:t>
            </a:r>
            <a:endParaRPr lang="en-US" sz="1000" dirty="0"/>
          </a:p>
        </p:txBody>
      </p:sp>
      <p:sp>
        <p:nvSpPr>
          <p:cNvPr id="24" name="Entity Tariff"/>
          <p:cNvSpPr/>
          <p:nvPr/>
        </p:nvSpPr>
        <p:spPr>
          <a:xfrm>
            <a:off x="457200" y="3703320"/>
            <a:ext cx="2194560" cy="104241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Entity header Tariff"/>
          <p:cNvSpPr/>
          <p:nvPr/>
        </p:nvSpPr>
        <p:spPr>
          <a:xfrm>
            <a:off x="457200" y="3703320"/>
            <a:ext cx="2194560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57200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Tariff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4005072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tariff_id (PK)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vehicle_type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rate_per_hour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daily_cap</a:t>
            </a:r>
            <a:endParaRPr lang="en-US" sz="1000" dirty="0"/>
          </a:p>
        </p:txBody>
      </p:sp>
      <p:sp>
        <p:nvSpPr>
          <p:cNvPr id="28" name="Entity Payment"/>
          <p:cNvSpPr/>
          <p:nvPr/>
        </p:nvSpPr>
        <p:spPr>
          <a:xfrm>
            <a:off x="3474720" y="3703320"/>
            <a:ext cx="2194560" cy="104241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9" name="Entity header Payment"/>
          <p:cNvSpPr/>
          <p:nvPr/>
        </p:nvSpPr>
        <p:spPr>
          <a:xfrm>
            <a:off x="3474720" y="3703320"/>
            <a:ext cx="2194560" cy="25603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474720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Payment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3584448" y="4005072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payment_id (PK)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ticket_id (FK)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tariff_id (FK)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amount</a:t>
            </a:r>
            <a:endParaRPr lang="en-US" sz="1000" dirty="0"/>
          </a:p>
        </p:txBody>
      </p:sp>
      <p:sp>
        <p:nvSpPr>
          <p:cNvPr id="32" name="Entity ParkingLot"/>
          <p:cNvSpPr/>
          <p:nvPr/>
        </p:nvSpPr>
        <p:spPr>
          <a:xfrm>
            <a:off x="6492240" y="3703320"/>
            <a:ext cx="2194560" cy="104241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3" name="Entity header ParkingLot"/>
          <p:cNvSpPr/>
          <p:nvPr/>
        </p:nvSpPr>
        <p:spPr>
          <a:xfrm>
            <a:off x="6492240" y="3703320"/>
            <a:ext cx="2194560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492240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ParkingLot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601968" y="4005072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lot_id (PK)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lot_name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location</a:t>
            </a:r>
            <a:endParaRPr lang="en-US" sz="1000" dirty="0"/>
          </a:p>
          <a:p>
            <a:pPr indent="0" marL="0">
              <a:lnSpc>
                <a:spcPts val="137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total_slots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554480" y="2057400"/>
            <a:ext cx="0" cy="320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627632" y="20391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627632" y="21762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651760" y="2880360"/>
            <a:ext cx="8229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697480" y="2679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3246120" y="2679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669280" y="2880360"/>
            <a:ext cx="8229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742432" y="2679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291072" y="2679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0" y="2057400"/>
            <a:ext cx="0" cy="320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645152" y="20391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4645152" y="21762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572000" y="3383280"/>
            <a:ext cx="0" cy="320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645152" y="33649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4645152" y="3502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2651760" y="4206240"/>
            <a:ext cx="8229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697480" y="4005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3246120" y="4005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7589520" y="3383280"/>
            <a:ext cx="0" cy="320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662672" y="33649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7662672" y="3502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57" name="Card"/>
          <p:cNvSpPr/>
          <p:nvPr/>
        </p:nvSpPr>
        <p:spPr>
          <a:xfrm>
            <a:off x="6492240" y="1051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58" name="Legend blue"/>
          <p:cNvSpPr/>
          <p:nvPr/>
        </p:nvSpPr>
        <p:spPr>
          <a:xfrm>
            <a:off x="6629400" y="1188720"/>
            <a:ext cx="201168" cy="1463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6922008" y="1161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From Review 1</a:t>
            </a:r>
            <a:endParaRPr lang="en-US" sz="1100" dirty="0"/>
          </a:p>
        </p:txBody>
      </p:sp>
      <p:sp>
        <p:nvSpPr>
          <p:cNvPr id="60" name="Legend amber"/>
          <p:cNvSpPr/>
          <p:nvPr/>
        </p:nvSpPr>
        <p:spPr>
          <a:xfrm>
            <a:off x="6629400" y="1444752"/>
            <a:ext cx="201168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6922008" y="1417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New in Review 2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662940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Reservation also references ParkingSlot (FK).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Normalization to 3NF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5661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Before: one wide table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ticket_id, plate_no,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owner_name, owner_phone,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slot_no, slot_type,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rate, entry_time,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exit_time, amount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611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Owner, slot and rate repeat on every row, causing update anomalies.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280160"/>
            <a:ext cx="43891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9" name="NF badge"/>
          <p:cNvSpPr/>
          <p:nvPr/>
        </p:nvSpPr>
        <p:spPr>
          <a:xfrm>
            <a:off x="4480560" y="1527048"/>
            <a:ext cx="8229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0560" y="1527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1NF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1280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Atomic values only; every row identified by a key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297680" y="2377440"/>
            <a:ext cx="43891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3" name="NF badge"/>
          <p:cNvSpPr/>
          <p:nvPr/>
        </p:nvSpPr>
        <p:spPr>
          <a:xfrm>
            <a:off x="4480560" y="2624328"/>
            <a:ext cx="8229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80560" y="26243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2NF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23774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Slot and vehicle details moved to their own tables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297680" y="3474720"/>
            <a:ext cx="43891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7" name="NF badge"/>
          <p:cNvSpPr/>
          <p:nvPr/>
        </p:nvSpPr>
        <p:spPr>
          <a:xfrm>
            <a:off x="4480560" y="3721608"/>
            <a:ext cx="8229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80560" y="37216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3NF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532120" y="34747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 contact and rates moved to User and Tariff tables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Schema implementation in SQL</a:t>
            </a:r>
            <a:endParaRPr lang="en-US" sz="3000" dirty="0"/>
          </a:p>
        </p:txBody>
      </p:sp>
      <p:sp>
        <p:nvSpPr>
          <p:cNvPr id="4" name="Code card"/>
          <p:cNvSpPr/>
          <p:nvPr/>
        </p:nvSpPr>
        <p:spPr>
          <a:xfrm>
            <a:off x="457200" y="1188720"/>
            <a:ext cx="5394960" cy="34290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5029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ParkingSlot (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slot_id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lot_id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slot_type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'BIKE'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'EV'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floor_no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dist_to_entry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'AVAILABLE'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'OCCUPIED'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'AVAILABLE'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(lot_id)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ParkingLot(lot_id)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ParkingTicket (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ticket_id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vehicle_id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slot_id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entry_time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exit_time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(exit_time &gt; entry_time)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6" name="Card"/>
          <p:cNvSpPr/>
          <p:nvPr/>
        </p:nvSpPr>
        <p:spPr>
          <a:xfrm>
            <a:off x="6126480" y="1188720"/>
            <a:ext cx="2560320" cy="34290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30936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Integrity built 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87452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PRIMARY KEY on every table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FOREIGN KEYs keep links valid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ENUM limits type and status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blocks bad exit times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Smart slot allocation</a:t>
            </a:r>
            <a:endParaRPr lang="en-US" sz="3000" dirty="0"/>
          </a:p>
        </p:txBody>
      </p:sp>
      <p:sp>
        <p:nvSpPr>
          <p:cNvPr id="4" name="Number badge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234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vehicle type (car, bike, EV)</a:t>
            </a:r>
            <a:endParaRPr lang="en-US" sz="1400" dirty="0"/>
          </a:p>
        </p:txBody>
      </p:sp>
      <p:sp>
        <p:nvSpPr>
          <p:cNvPr id="7" name="Number badge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Filter slots that are AVAILABLE and match the type</a:t>
            </a:r>
            <a:endParaRPr lang="en-US" sz="1400" dirty="0"/>
          </a:p>
        </p:txBody>
      </p:sp>
      <p:sp>
        <p:nvSpPr>
          <p:cNvPr id="10" name="Number badge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 by floor and distance to the entry</a:t>
            </a:r>
            <a:endParaRPr lang="en-US" sz="1400" dirty="0"/>
          </a:p>
        </p:txBody>
      </p:sp>
      <p:sp>
        <p:nvSpPr>
          <p:cNvPr id="13" name="Number badge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Lock the chosen row and mark it OCCUPIED</a:t>
            </a:r>
            <a:endParaRPr lang="en-US" sz="1400" dirty="0"/>
          </a:p>
        </p:txBody>
      </p:sp>
      <p:sp>
        <p:nvSpPr>
          <p:cNvPr id="16" name="Code card"/>
          <p:cNvSpPr/>
          <p:nvPr/>
        </p:nvSpPr>
        <p:spPr>
          <a:xfrm>
            <a:off x="4572000" y="1280160"/>
            <a:ext cx="4114800" cy="2103120"/>
          </a:xfrm>
          <a:prstGeom prst="roundRect">
            <a:avLst>
              <a:gd name="adj" fmla="val 4348"/>
            </a:avLst>
          </a:prstGeom>
          <a:solidFill>
            <a:schemeClr val="tx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754880" y="14173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slot_id</a:t>
            </a:r>
            <a:endParaRPr lang="en-US" sz="12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ParkingSlot</a:t>
            </a:r>
            <a:endParaRPr lang="en-US" sz="12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 = 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'AVAILABLE'</a:t>
            </a:r>
            <a:endParaRPr lang="en-US" sz="12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slot_type = 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'CAR'</a:t>
            </a:r>
            <a:endParaRPr lang="en-US" sz="12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floor_no, dist_to_entry</a:t>
            </a:r>
            <a:endParaRPr lang="en-US" sz="12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2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ts val="158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572000" y="3611880"/>
            <a:ext cx="41148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800600" y="3611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no row is returned, the procedure replies LOT FULL.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Billing engine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4206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463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Billable hours = CEILING((stay − grace) / 60 min)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1945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Fee = MIN(billable hours × rate, daily cap)</a:t>
            </a:r>
            <a:endParaRPr lang="en-US" sz="1500" dirty="0"/>
          </a:p>
        </p:txBody>
      </p:sp>
      <p:sp>
        <p:nvSpPr>
          <p:cNvPr id="7" name="Worked example"/>
          <p:cNvSpPr/>
          <p:nvPr/>
        </p:nvSpPr>
        <p:spPr>
          <a:xfrm>
            <a:off x="457200" y="3200400"/>
            <a:ext cx="4206240" cy="128016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Worked example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63931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Car, 2 h 40 min stay, 15 min grace: 2 h 25 min → 3 billable hours × ₹30 = ₹90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Sample rate card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37360"/>
          <a:ext cx="3749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Vehicle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Rate / hour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Daily cap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</a:rPr>
                        <a:t>Car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₹30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₹200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</a:rPr>
                        <a:t>Bike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₹15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₹100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</a:rPr>
                        <a:t>EV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₹40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₹250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937760" y="3886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Rates are sample values stored in the Tariff table and can be changed without code changes.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Procedures, functions and triggers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og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PROCEDURE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sp_allocate_slot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Finds the nearest free slot and creates the ticket.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Cog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5316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06908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PROCEDURE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sp_close_ticket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47472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Records exit time and calls the fee function.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12648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Calculato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53162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372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FUNCTION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63093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fn_calc_fee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30936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Applies grace period, rate and daily cap.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45720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3" name="Icon circle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Bo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17754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344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TRIGGER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trg_ticket_before_insert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Blocks a second open ticket for one vehicle.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9" name="Icon circle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4" descr="Bo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0690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TRIGGER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34747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trg_ticket_after_insert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347472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Sets the slot status to OCCUPIED.</a:t>
            </a:r>
            <a:endParaRPr lang="en-US" sz="1200" dirty="0"/>
          </a:p>
        </p:txBody>
      </p:sp>
      <p:sp>
        <p:nvSpPr>
          <p:cNvPr id="34" name="Card"/>
          <p:cNvSpPr/>
          <p:nvPr/>
        </p:nvSpPr>
        <p:spPr>
          <a:xfrm>
            <a:off x="612648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35" name="Icon circle"/>
          <p:cNvSpPr/>
          <p:nvPr/>
        </p:nvSpPr>
        <p:spPr>
          <a:xfrm>
            <a:off x="630936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5" descr="Bol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177540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90372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TRIGGER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630936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trg_payment_after_insert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630936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Sets the slot status to AVAILABLE.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Sample queries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Available slots by type</a:t>
            </a:r>
            <a:endParaRPr lang="en-US" sz="1500" dirty="0"/>
          </a:p>
        </p:txBody>
      </p:sp>
      <p:sp>
        <p:nvSpPr>
          <p:cNvPr id="6" name="Code card"/>
          <p:cNvSpPr/>
          <p:nvPr/>
        </p:nvSpPr>
        <p:spPr>
          <a:xfrm>
            <a:off x="2834640" y="1234440"/>
            <a:ext cx="5852160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017520" y="1371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slot_type,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ParkingSlot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 =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'AVAILABLE'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slot_type;</a:t>
            </a:r>
            <a:endParaRPr lang="en-US" sz="1050" dirty="0"/>
          </a:p>
        </p:txBody>
      </p:sp>
      <p:sp>
        <p:nvSpPr>
          <p:cNvPr id="8" name="Card"/>
          <p:cNvSpPr/>
          <p:nvPr/>
        </p:nvSpPr>
        <p:spPr>
          <a:xfrm>
            <a:off x="457200" y="237744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Vehicles parked now</a:t>
            </a:r>
            <a:endParaRPr lang="en-US" sz="1500" dirty="0"/>
          </a:p>
        </p:txBody>
      </p:sp>
      <p:sp>
        <p:nvSpPr>
          <p:cNvPr id="10" name="Code card"/>
          <p:cNvSpPr/>
          <p:nvPr/>
        </p:nvSpPr>
        <p:spPr>
          <a:xfrm>
            <a:off x="2834640" y="2377440"/>
            <a:ext cx="5852160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017520" y="2514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v.plate_no, t.slot_id, t.entry_time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ParkingTicket t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Vehicle v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(vehicle_id)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t.exit_time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457200" y="352044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520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Revenue per day</a:t>
            </a:r>
            <a:endParaRPr lang="en-US" sz="1500" dirty="0"/>
          </a:p>
        </p:txBody>
      </p:sp>
      <p:sp>
        <p:nvSpPr>
          <p:cNvPr id="14" name="Code card"/>
          <p:cNvSpPr/>
          <p:nvPr/>
        </p:nvSpPr>
        <p:spPr>
          <a:xfrm>
            <a:off x="2834640" y="3520440"/>
            <a:ext cx="5852160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017520" y="3657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(paid_at)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day,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(amount)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revenue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Payment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(paid_at);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 cases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T1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Allocate a CAR slot when one is free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Nearest free slot assigned; status OCCUPIED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T2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Allocate when the lot is full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Returns LOT FULL; no ticket created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T3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Exit within the grace period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Fee is ₹0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T4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Long stay above the daily cap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Fee limited to the daily cap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T5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Exit time earlier than entry time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Rejected by the CHECK constraint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T6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Payment saved for a ticket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Slot status becomes AVAILABLE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Next steps for Review 3</a:t>
            </a:r>
            <a:endParaRPr lang="en-US" sz="3000" dirty="0"/>
          </a:p>
        </p:txBody>
      </p:sp>
      <p:sp>
        <p:nvSpPr>
          <p:cNvPr id="4" name="Icon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Lo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17320" y="1371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Concurrency-safe allocation with transactions and row locks</a:t>
            </a:r>
            <a:endParaRPr lang="en-US" sz="1800" dirty="0"/>
          </a:p>
        </p:txBody>
      </p:sp>
      <p:sp>
        <p:nvSpPr>
          <p:cNvPr id="7" name="Icon circle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Bo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17320" y="2148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Dynamic pricing, memberships and overstay penalties</a:t>
            </a:r>
            <a:endParaRPr lang="en-US" sz="1800" dirty="0"/>
          </a:p>
        </p:txBody>
      </p:sp>
      <p:sp>
        <p:nvSpPr>
          <p:cNvPr id="10" name="Icon circle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UserShiel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417320" y="2926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Roles, audit log and performance indexing</a:t>
            </a:r>
            <a:endParaRPr lang="en-US" sz="1800" dirty="0"/>
          </a:p>
        </p:txBody>
      </p:sp>
      <p:sp>
        <p:nvSpPr>
          <p:cNvPr id="13" name="Icon circle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3" descr="ChartLin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4048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417320" y="3703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Reports, dashboard and a live demo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Parking">
  <a:themeElements>
    <a:clrScheme name="Smart Parking">
      <a:dk1>
        <a:srgbClr val="14213D"/>
      </a:dk1>
      <a:lt1>
        <a:srgbClr val="FFFFFF"/>
      </a:lt1>
      <a:dk2>
        <a:srgbClr val="1D3557"/>
      </a:dk2>
      <a:lt2>
        <a:srgbClr val="EEF2F7"/>
      </a:lt2>
      <a:accent1>
        <a:srgbClr val="FCA311"/>
      </a:accent1>
      <a:accent2>
        <a:srgbClr val="2A9D8F"/>
      </a:accent2>
      <a:accent3>
        <a:srgbClr val="3A6EA5"/>
      </a:accent3>
      <a:accent4>
        <a:srgbClr val="C8553D"/>
      </a:accent4>
      <a:accent5>
        <a:srgbClr val="4F5D75"/>
      </a:accent5>
      <a:accent6>
        <a:srgbClr val="8AB17D"/>
      </a:accent6>
      <a:hlink>
        <a:srgbClr val="3A6EA5"/>
      </a:hlink>
      <a:folHlink>
        <a:srgbClr val="4F5D75"/>
      </a:folHlink>
    </a:clrScheme>
    <a:fontScheme name="Smart Park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DBMS - Review 2</dc:title>
  <dc:subject>PptxGenJS Presentation</dc:subject>
  <dc:creator>PptxGenJS</dc:creator>
  <cp:lastModifiedBy>PptxGenJS</cp:lastModifiedBy>
  <cp:revision>1</cp:revision>
  <dcterms:created xsi:type="dcterms:W3CDTF">2026-10-13T21:40:21Z</dcterms:created>
  <dcterms:modified xsi:type="dcterms:W3CDTF">2026-10-13T21:40:21Z</dcterms:modified>
</cp:coreProperties>
</file>