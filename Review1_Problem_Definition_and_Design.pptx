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Review 1: Problem definition and design" id="{7c569bd0-51d7-8944-6047-a571d2fa6943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topic, the team and the guide. Review 1 covers the problem, requirements and the first database design.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three everyday problems of a manual parking lot, then link them to the need for stored, structured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problem statement, then walk through the four objectives.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Contrast the manual process on the left with what the database-driven system provides on the right.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Review 1 is the foundation. Reviews 2 and 3 add logic, concurrency, pricing, security and reports.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core functions the system must support in Review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entities. A vehicle can have many tickets, a slot can appear in many tickets over time, and each ticket has one payment.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Mapping of the ER diagram to four relations with primary and foreign keys.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Steps 1 to 4 happen at entry and steps 5 to 8 at exit. Steps 2 to 4 and 5 to 8 are the database operations.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Technology choices; MySQL can be replaced by PostgreSQL without changing the design.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Summarize what is done and preview Review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960120"/>
            <a:ext cx="786384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640080" y="3063240"/>
            <a:ext cx="576072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411480"/>
            <a:ext cx="78638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Smart Parking DBMS  |  Review 1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Database Management System – PBL  |  Review 1</a:t>
            </a:r>
            <a:endParaRPr lang="en-US" sz="18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960120"/>
            <a:ext cx="7863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Design and Implementation of a Database Management System for Smart Parking Lot Allocation and Billing System</a:t>
            </a:r>
            <a:endParaRPr lang="en-US" sz="3000" dirty="0"/>
          </a:p>
        </p:txBody>
      </p:sp>
      <p:sp>
        <p:nvSpPr>
          <p:cNvPr id="4" name="Author card"/>
          <p:cNvSpPr/>
          <p:nvPr/>
        </p:nvSpPr>
        <p:spPr>
          <a:xfrm>
            <a:off x="457200" y="3291840"/>
            <a:ext cx="5394960" cy="1463040"/>
          </a:xfrm>
          <a:prstGeom prst="roundRect">
            <a:avLst>
              <a:gd name="adj" fmla="val 12500"/>
            </a:avLst>
          </a:prstGeom>
          <a:solidFill>
            <a:schemeClr val="bg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342900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by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70332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G. DAIWIK REDDY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0233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AI-ML RHINOS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31596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25WU0102340</a:t>
            </a:r>
            <a:endParaRPr lang="en-US" sz="1600" dirty="0"/>
          </a:p>
        </p:txBody>
      </p:sp>
      <p:sp>
        <p:nvSpPr>
          <p:cNvPr id="9" name="Icon circle"/>
          <p:cNvSpPr/>
          <p:nvPr/>
        </p:nvSpPr>
        <p:spPr>
          <a:xfrm>
            <a:off x="6949440" y="3246120"/>
            <a:ext cx="1554480" cy="15544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mage 0" descr="Parking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38060" y="3634740"/>
            <a:ext cx="777240" cy="777240"/>
          </a:xfrm>
          <a:prstGeom prst="rect">
            <a:avLst/>
          </a:prstGeom>
        </p:spPr>
      </p:pic>
      <p:sp>
        <p:nvSpPr>
          <p:cNvPr id="11" name="Icon circle"/>
          <p:cNvSpPr/>
          <p:nvPr/>
        </p:nvSpPr>
        <p:spPr>
          <a:xfrm>
            <a:off x="6400800" y="4069080"/>
            <a:ext cx="685800" cy="6858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2" name="Image 1" descr="Car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2250" y="4240530"/>
            <a:ext cx="342900" cy="342900"/>
          </a:xfrm>
          <a:prstGeom prst="rect">
            <a:avLst/>
          </a:prstGeom>
        </p:spPr>
      </p:pic>
      <p:sp>
        <p:nvSpPr>
          <p:cNvPr id="14" name="Text 1"/>
          <p:cNvSpPr/>
          <p:nvPr>
            <p:ph idx="102" type="body" hasCustomPrompt="1"/>
          </p:nvPr>
        </p:nvSpPr>
        <p:spPr>
          <a:xfrm>
            <a:off x="640080" y="3063240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Why smart parking needs a database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457200" y="1280160"/>
            <a:ext cx="2560320" cy="2651760"/>
          </a:xfrm>
          <a:prstGeom prst="roundRect">
            <a:avLst>
              <a:gd name="adj" fmla="val 3571"/>
            </a:avLst>
          </a:prstGeom>
          <a:solidFill>
            <a:schemeClr val="bg2"/>
          </a:solidFill>
          <a:ln/>
        </p:spPr>
      </p:sp>
      <p:sp>
        <p:nvSpPr>
          <p:cNvPr id="5" name="Icon circle"/>
          <p:cNvSpPr/>
          <p:nvPr/>
        </p:nvSpPr>
        <p:spPr>
          <a:xfrm>
            <a:off x="685800" y="15087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Search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250" y="1680210"/>
            <a:ext cx="342900" cy="3429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85800" y="23317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Slot hunting</a:t>
            </a:r>
            <a:endParaRPr lang="en-US" sz="1800" dirty="0"/>
          </a:p>
        </p:txBody>
      </p:sp>
      <p:sp>
        <p:nvSpPr>
          <p:cNvPr id="8" name="Text 4"/>
          <p:cNvSpPr txBox="1"/>
          <p:nvPr/>
        </p:nvSpPr>
        <p:spPr>
          <a:xfrm>
            <a:off x="685800" y="274320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Drivers circle the lot because free slots are not tracked live.</a:t>
            </a:r>
            <a:endParaRPr lang="en-US" sz="1400" dirty="0"/>
          </a:p>
        </p:txBody>
      </p:sp>
      <p:sp>
        <p:nvSpPr>
          <p:cNvPr id="9" name="Card"/>
          <p:cNvSpPr/>
          <p:nvPr/>
        </p:nvSpPr>
        <p:spPr>
          <a:xfrm>
            <a:off x="3291840" y="1280160"/>
            <a:ext cx="2560320" cy="2651760"/>
          </a:xfrm>
          <a:prstGeom prst="roundRect">
            <a:avLst>
              <a:gd name="adj" fmla="val 3571"/>
            </a:avLst>
          </a:prstGeom>
          <a:solidFill>
            <a:schemeClr val="bg2"/>
          </a:solidFill>
          <a:ln/>
        </p:spPr>
      </p:sp>
      <p:sp>
        <p:nvSpPr>
          <p:cNvPr id="10" name="Icon circle"/>
          <p:cNvSpPr/>
          <p:nvPr/>
        </p:nvSpPr>
        <p:spPr>
          <a:xfrm>
            <a:off x="3520440" y="15087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mage 1" descr="MoneyBillWave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1890" y="1680210"/>
            <a:ext cx="342900" cy="34290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3520440" y="23317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Billing errors</a:t>
            </a:r>
            <a:endParaRPr lang="en-US" sz="1800" dirty="0"/>
          </a:p>
        </p:txBody>
      </p:sp>
      <p:sp>
        <p:nvSpPr>
          <p:cNvPr id="13" name="Text 8"/>
          <p:cNvSpPr txBox="1"/>
          <p:nvPr/>
        </p:nvSpPr>
        <p:spPr>
          <a:xfrm>
            <a:off x="3520440" y="274320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Manual timing and paper receipts cause wrong or disputed charges.</a:t>
            </a:r>
            <a:endParaRPr lang="en-US" sz="1400" dirty="0"/>
          </a:p>
        </p:txBody>
      </p:sp>
      <p:sp>
        <p:nvSpPr>
          <p:cNvPr id="14" name="Card"/>
          <p:cNvSpPr/>
          <p:nvPr/>
        </p:nvSpPr>
        <p:spPr>
          <a:xfrm>
            <a:off x="6126480" y="1280160"/>
            <a:ext cx="2560320" cy="2651760"/>
          </a:xfrm>
          <a:prstGeom prst="roundRect">
            <a:avLst>
              <a:gd name="adj" fmla="val 3571"/>
            </a:avLst>
          </a:prstGeom>
          <a:solidFill>
            <a:schemeClr val="bg2"/>
          </a:solidFill>
          <a:ln/>
        </p:spPr>
      </p:sp>
      <p:sp>
        <p:nvSpPr>
          <p:cNvPr id="15" name="Icon circle"/>
          <p:cNvSpPr/>
          <p:nvPr/>
        </p:nvSpPr>
        <p:spPr>
          <a:xfrm>
            <a:off x="6355080" y="15087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Image 2" descr="ChartLine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6530" y="1680210"/>
            <a:ext cx="342900" cy="34290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6355080" y="23317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No usage data</a:t>
            </a:r>
            <a:endParaRPr lang="en-US" sz="1800" dirty="0"/>
          </a:p>
        </p:txBody>
      </p:sp>
      <p:sp>
        <p:nvSpPr>
          <p:cNvPr id="18" name="Text 12"/>
          <p:cNvSpPr txBox="1"/>
          <p:nvPr/>
        </p:nvSpPr>
        <p:spPr>
          <a:xfrm>
            <a:off x="6355080" y="274320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Without stored records, owners cannot study occupancy or revenue.</a:t>
            </a:r>
            <a:endParaRPr lang="en-US" sz="1400" dirty="0"/>
          </a:p>
        </p:txBody>
      </p:sp>
      <p:sp>
        <p:nvSpPr>
          <p:cNvPr id="19" name="Text 13"/>
          <p:cNvSpPr txBox="1"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A DBMS gives one reliable source of truth for slots, vehicles, tickets and payments.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Problem statement and objectives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457200" y="1280160"/>
            <a:ext cx="3840480" cy="320040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/>
        </p:spPr>
      </p:sp>
      <p:sp>
        <p:nvSpPr>
          <p:cNvPr id="5" name="Icon circle"/>
          <p:cNvSpPr/>
          <p:nvPr/>
        </p:nvSpPr>
        <p:spPr>
          <a:xfrm>
            <a:off x="685800" y="15087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ClipboardList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820" y="1668780"/>
            <a:ext cx="320040" cy="32004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508760" y="150876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Problem statement</a:t>
            </a:r>
            <a:endParaRPr lang="en-US" sz="1800" dirty="0"/>
          </a:p>
        </p:txBody>
      </p:sp>
      <p:sp>
        <p:nvSpPr>
          <p:cNvPr id="8" name="Text 4"/>
          <p:cNvSpPr txBox="1"/>
          <p:nvPr/>
        </p:nvSpPr>
        <p:spPr>
          <a:xfrm>
            <a:off x="685800" y="2377440"/>
            <a:ext cx="3383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Manual parking lots cannot allocate slots efficiently or bill accurately. This project designs and implements a relational database that automates slot allocation, entry and exit tracking, and fee calculation.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4572000" y="12801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Objectives</a:t>
            </a:r>
            <a:endParaRPr lang="en-US" sz="1800" dirty="0"/>
          </a:p>
        </p:txBody>
      </p:sp>
      <p:sp>
        <p:nvSpPr>
          <p:cNvPr id="10" name="Number badge"/>
          <p:cNvSpPr/>
          <p:nvPr/>
        </p:nvSpPr>
        <p:spPr>
          <a:xfrm>
            <a:off x="4572000" y="1847088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4572000" y="18470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1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5166360" y="178308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Model parking entities with an ER design</a:t>
            </a:r>
            <a:endParaRPr lang="en-US" sz="1400" dirty="0"/>
          </a:p>
        </p:txBody>
      </p:sp>
      <p:sp>
        <p:nvSpPr>
          <p:cNvPr id="13" name="Number badge"/>
          <p:cNvSpPr/>
          <p:nvPr/>
        </p:nvSpPr>
        <p:spPr>
          <a:xfrm>
            <a:off x="4572000" y="2532888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4572000" y="25328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2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5166360" y="246888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Store vehicle, slot, ticket and payment data</a:t>
            </a:r>
            <a:endParaRPr lang="en-US" sz="1400" dirty="0"/>
          </a:p>
        </p:txBody>
      </p:sp>
      <p:sp>
        <p:nvSpPr>
          <p:cNvPr id="16" name="Number badge"/>
          <p:cNvSpPr/>
          <p:nvPr/>
        </p:nvSpPr>
        <p:spPr>
          <a:xfrm>
            <a:off x="4572000" y="3218688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4572000" y="32186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3</a:t>
            </a:r>
            <a:endParaRPr lang="en-US" sz="1500" dirty="0"/>
          </a:p>
        </p:txBody>
      </p:sp>
      <p:sp>
        <p:nvSpPr>
          <p:cNvPr id="18" name="Text 14"/>
          <p:cNvSpPr txBox="1"/>
          <p:nvPr/>
        </p:nvSpPr>
        <p:spPr>
          <a:xfrm>
            <a:off x="5166360" y="315468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Allocate a free slot automatically</a:t>
            </a:r>
            <a:endParaRPr lang="en-US" sz="1400" dirty="0"/>
          </a:p>
        </p:txBody>
      </p:sp>
      <p:sp>
        <p:nvSpPr>
          <p:cNvPr id="19" name="Number badge"/>
          <p:cNvSpPr/>
          <p:nvPr/>
        </p:nvSpPr>
        <p:spPr>
          <a:xfrm>
            <a:off x="4572000" y="3904488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4572000" y="39044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4</a:t>
            </a:r>
            <a:endParaRPr lang="en-US" sz="1500" dirty="0"/>
          </a:p>
        </p:txBody>
      </p:sp>
      <p:sp>
        <p:nvSpPr>
          <p:cNvPr id="21" name="Text 17"/>
          <p:cNvSpPr txBox="1"/>
          <p:nvPr/>
        </p:nvSpPr>
        <p:spPr>
          <a:xfrm>
            <a:off x="5166360" y="384048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Compute the fee from the stay duration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Existing system vs proposed system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457200" y="1280160"/>
            <a:ext cx="3931920" cy="320040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/>
        </p:spPr>
      </p:sp>
      <p:sp>
        <p:nvSpPr>
          <p:cNvPr id="5" name="Icon circle"/>
          <p:cNvSpPr/>
          <p:nvPr/>
        </p:nvSpPr>
        <p:spPr>
          <a:xfrm>
            <a:off x="685800" y="1481328"/>
            <a:ext cx="548640" cy="54864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6" name="Image 0" descr="TimesCircle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18488"/>
            <a:ext cx="274320" cy="2743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417320" y="148132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Manual / existing</a:t>
            </a:r>
            <a:endParaRPr lang="en-US" sz="1800" dirty="0"/>
          </a:p>
        </p:txBody>
      </p:sp>
      <p:sp>
        <p:nvSpPr>
          <p:cNvPr id="8" name="Text 4"/>
          <p:cNvSpPr txBox="1"/>
          <p:nvPr/>
        </p:nvSpPr>
        <p:spPr>
          <a:xfrm>
            <a:off x="731520" y="2286000"/>
            <a:ext cx="3474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Slots tracked by eye or on paper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Fee calculated by hand at exit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Lost tickets, no vehicle history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No reports for the owner</a:t>
            </a:r>
            <a:endParaRPr lang="en-US" sz="1400" dirty="0"/>
          </a:p>
        </p:txBody>
      </p:sp>
      <p:sp>
        <p:nvSpPr>
          <p:cNvPr id="9" name="Card"/>
          <p:cNvSpPr/>
          <p:nvPr/>
        </p:nvSpPr>
        <p:spPr>
          <a:xfrm>
            <a:off x="4754880" y="1280160"/>
            <a:ext cx="3931920" cy="320040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/>
        </p:spPr>
      </p:sp>
      <p:sp>
        <p:nvSpPr>
          <p:cNvPr id="10" name="Icon circle"/>
          <p:cNvSpPr/>
          <p:nvPr/>
        </p:nvSpPr>
        <p:spPr>
          <a:xfrm>
            <a:off x="4983480" y="1481328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1" name="Image 1" descr="CheckCircle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618488"/>
            <a:ext cx="274320" cy="27432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715000" y="148132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Proposed DBMS</a:t>
            </a:r>
            <a:endParaRPr lang="en-US" sz="1800" dirty="0"/>
          </a:p>
        </p:txBody>
      </p:sp>
      <p:sp>
        <p:nvSpPr>
          <p:cNvPr id="13" name="Text 8"/>
          <p:cNvSpPr txBox="1"/>
          <p:nvPr/>
        </p:nvSpPr>
        <p:spPr>
          <a:xfrm>
            <a:off x="5029200" y="2286000"/>
            <a:ext cx="3474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Slot status stored and updated live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Fee computed from entry and exit time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Every vehicle and ticket is recorded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Queries give instant reports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Scope and review roadmap</a:t>
            </a:r>
            <a:endParaRPr lang="en-US" sz="3000" dirty="0"/>
          </a:p>
        </p:txBody>
      </p:sp>
      <p:sp>
        <p:nvSpPr>
          <p:cNvPr id="4" name="Roadmap header"/>
          <p:cNvSpPr/>
          <p:nvPr/>
        </p:nvSpPr>
        <p:spPr>
          <a:xfrm>
            <a:off x="457200" y="1280160"/>
            <a:ext cx="2560320" cy="54864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457200" y="12801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Review 1  ·  now</a:t>
            </a:r>
            <a:endParaRPr lang="en-US" sz="1600" dirty="0"/>
          </a:p>
        </p:txBody>
      </p:sp>
      <p:sp>
        <p:nvSpPr>
          <p:cNvPr id="6" name="Card"/>
          <p:cNvSpPr/>
          <p:nvPr/>
        </p:nvSpPr>
        <p:spPr>
          <a:xfrm>
            <a:off x="457200" y="1965960"/>
            <a:ext cx="2560320" cy="251460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85800" y="2148840"/>
            <a:ext cx="2148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Vehicle and slot master data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Entry and exit tickets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Basic slot allocation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Flat hourly billing</a:t>
            </a:r>
            <a:endParaRPr lang="en-US" sz="1400" dirty="0"/>
          </a:p>
        </p:txBody>
      </p:sp>
      <p:sp>
        <p:nvSpPr>
          <p:cNvPr id="8" name="Roadmap header"/>
          <p:cNvSpPr/>
          <p:nvPr/>
        </p:nvSpPr>
        <p:spPr>
          <a:xfrm>
            <a:off x="3291840" y="1280160"/>
            <a:ext cx="2560320" cy="548640"/>
          </a:xfrm>
          <a:prstGeom prst="roundRect">
            <a:avLst>
              <a:gd name="adj" fmla="val 16667"/>
            </a:avLst>
          </a:prstGeom>
          <a:solidFill>
            <a:schemeClr val="accent5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3291840" y="12801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Review 2</a:t>
            </a:r>
            <a:endParaRPr lang="en-US" sz="1600" dirty="0"/>
          </a:p>
        </p:txBody>
      </p:sp>
      <p:sp>
        <p:nvSpPr>
          <p:cNvPr id="10" name="Card"/>
          <p:cNvSpPr/>
          <p:nvPr/>
        </p:nvSpPr>
        <p:spPr>
          <a:xfrm>
            <a:off x="3291840" y="1965960"/>
            <a:ext cx="2560320" cy="251460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3520440" y="2148840"/>
            <a:ext cx="2148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Normalized, extended schema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Smart allocation procedure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Tariff-based billing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Triggers and test cases</a:t>
            </a:r>
            <a:endParaRPr lang="en-US" sz="1400" dirty="0"/>
          </a:p>
        </p:txBody>
      </p:sp>
      <p:sp>
        <p:nvSpPr>
          <p:cNvPr id="12" name="Roadmap header"/>
          <p:cNvSpPr/>
          <p:nvPr/>
        </p:nvSpPr>
        <p:spPr>
          <a:xfrm>
            <a:off x="6126480" y="1280160"/>
            <a:ext cx="2560320" cy="548640"/>
          </a:xfrm>
          <a:prstGeom prst="roundRect">
            <a:avLst>
              <a:gd name="adj" fmla="val 16667"/>
            </a:avLst>
          </a:prstGeom>
          <a:solidFill>
            <a:schemeClr val="accent5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126480" y="12801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Review 3</a:t>
            </a:r>
            <a:endParaRPr lang="en-US" sz="1600" dirty="0"/>
          </a:p>
        </p:txBody>
      </p:sp>
      <p:sp>
        <p:nvSpPr>
          <p:cNvPr id="14" name="Card"/>
          <p:cNvSpPr/>
          <p:nvPr/>
        </p:nvSpPr>
        <p:spPr>
          <a:xfrm>
            <a:off x="6126480" y="1965960"/>
            <a:ext cx="2560320" cy="251460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6355080" y="2148840"/>
            <a:ext cx="2148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Concurrency-safe allocation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Dynamic pricing, penalties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Roles and audit log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Reports and dashboard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Functional requirements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457200" y="1280160"/>
            <a:ext cx="402336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/>
        </p:spPr>
      </p:sp>
      <p:sp>
        <p:nvSpPr>
          <p:cNvPr id="5" name="Icon circle"/>
          <p:cNvSpPr/>
          <p:nvPr/>
        </p:nvSpPr>
        <p:spPr>
          <a:xfrm>
            <a:off x="685800" y="16916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Car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820" y="1851660"/>
            <a:ext cx="320040" cy="32004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554480" y="1554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Vehicle registration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1554480" y="19202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Record plate number, type and owner contact.</a:t>
            </a:r>
            <a:endParaRPr lang="en-US" sz="1400" dirty="0"/>
          </a:p>
        </p:txBody>
      </p:sp>
      <p:sp>
        <p:nvSpPr>
          <p:cNvPr id="9" name="Card"/>
          <p:cNvSpPr/>
          <p:nvPr/>
        </p:nvSpPr>
        <p:spPr>
          <a:xfrm>
            <a:off x="4663440" y="1280160"/>
            <a:ext cx="402336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/>
        </p:spPr>
      </p:sp>
      <p:sp>
        <p:nvSpPr>
          <p:cNvPr id="10" name="Icon circle"/>
          <p:cNvSpPr/>
          <p:nvPr/>
        </p:nvSpPr>
        <p:spPr>
          <a:xfrm>
            <a:off x="4892040" y="16916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mage 1" descr="Parking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2060" y="1851660"/>
            <a:ext cx="320040" cy="32004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760720" y="1554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Slot management</a:t>
            </a:r>
            <a:endParaRPr lang="en-US" sz="1600" dirty="0"/>
          </a:p>
        </p:txBody>
      </p:sp>
      <p:sp>
        <p:nvSpPr>
          <p:cNvPr id="13" name="Text 8"/>
          <p:cNvSpPr txBox="1"/>
          <p:nvPr/>
        </p:nvSpPr>
        <p:spPr>
          <a:xfrm>
            <a:off x="5760720" y="19202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Maintain slots with type and live status.</a:t>
            </a:r>
            <a:endParaRPr lang="en-US" sz="1400" dirty="0"/>
          </a:p>
        </p:txBody>
      </p:sp>
      <p:sp>
        <p:nvSpPr>
          <p:cNvPr id="14" name="Card"/>
          <p:cNvSpPr/>
          <p:nvPr/>
        </p:nvSpPr>
        <p:spPr>
          <a:xfrm>
            <a:off x="457200" y="2926080"/>
            <a:ext cx="402336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/>
        </p:spPr>
      </p:sp>
      <p:sp>
        <p:nvSpPr>
          <p:cNvPr id="15" name="Icon circle"/>
          <p:cNvSpPr/>
          <p:nvPr/>
        </p:nvSpPr>
        <p:spPr>
          <a:xfrm>
            <a:off x="685800" y="33375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Image 2" descr="TicketAlt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" y="34975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554480" y="32004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Entry and exit tickets</a:t>
            </a:r>
            <a:endParaRPr lang="en-US" sz="1600" dirty="0"/>
          </a:p>
        </p:txBody>
      </p:sp>
      <p:sp>
        <p:nvSpPr>
          <p:cNvPr id="18" name="Text 12"/>
          <p:cNvSpPr txBox="1"/>
          <p:nvPr/>
        </p:nvSpPr>
        <p:spPr>
          <a:xfrm>
            <a:off x="1554480" y="35661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Log entry and exit time for each session.</a:t>
            </a:r>
            <a:endParaRPr lang="en-US" sz="1400" dirty="0"/>
          </a:p>
        </p:txBody>
      </p:sp>
      <p:sp>
        <p:nvSpPr>
          <p:cNvPr id="19" name="Card"/>
          <p:cNvSpPr/>
          <p:nvPr/>
        </p:nvSpPr>
        <p:spPr>
          <a:xfrm>
            <a:off x="4663440" y="2926080"/>
            <a:ext cx="402336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/>
        </p:spPr>
      </p:sp>
      <p:sp>
        <p:nvSpPr>
          <p:cNvPr id="20" name="Icon circle"/>
          <p:cNvSpPr/>
          <p:nvPr/>
        </p:nvSpPr>
        <p:spPr>
          <a:xfrm>
            <a:off x="4892040" y="33375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1" name="Image 3" descr="MoneyBillWave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2060" y="3497580"/>
            <a:ext cx="320040" cy="32004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5760720" y="32004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Billing and payment</a:t>
            </a:r>
            <a:endParaRPr lang="en-US" sz="1600" dirty="0"/>
          </a:p>
        </p:txBody>
      </p:sp>
      <p:sp>
        <p:nvSpPr>
          <p:cNvPr id="23" name="Text 16"/>
          <p:cNvSpPr txBox="1"/>
          <p:nvPr/>
        </p:nvSpPr>
        <p:spPr>
          <a:xfrm>
            <a:off x="5760720" y="35661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Calculate the fee and record the payment.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Conceptual design: ER diagram</a:t>
            </a:r>
            <a:endParaRPr lang="en-US" sz="3000" dirty="0"/>
          </a:p>
        </p:txBody>
      </p:sp>
      <p:sp>
        <p:nvSpPr>
          <p:cNvPr id="4" name="Entity Vehicle"/>
          <p:cNvSpPr/>
          <p:nvPr/>
        </p:nvSpPr>
        <p:spPr>
          <a:xfrm>
            <a:off x="457200" y="1234440"/>
            <a:ext cx="2194560" cy="137160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5" name="Entity header Vehicle"/>
          <p:cNvSpPr/>
          <p:nvPr/>
        </p:nvSpPr>
        <p:spPr>
          <a:xfrm>
            <a:off x="457200" y="1234440"/>
            <a:ext cx="2194560" cy="27432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457200" y="12344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Vehicle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66928" y="1554480"/>
            <a:ext cx="19751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80"/>
              </a:lnSpc>
              <a:buNone/>
            </a:pPr>
            <a:r>
              <a:rPr lang="en-US" sz="1100" b="1" dirty="0">
                <a:solidFill>
                  <a:schemeClr val="tx1"/>
                </a:solidFill>
              </a:rPr>
              <a:t>vehicle_id (PK)</a:t>
            </a:r>
            <a:endParaRPr lang="en-US" sz="1100" dirty="0"/>
          </a:p>
          <a:p>
            <a:pPr indent="0" marL="0">
              <a:lnSpc>
                <a:spcPts val="1580"/>
              </a:lnSpc>
              <a:buNone/>
            </a:pPr>
            <a:r>
              <a:rPr lang="en-US" sz="1100" dirty="0">
                <a:solidFill>
                  <a:schemeClr val="tx1"/>
                </a:solidFill>
              </a:rPr>
              <a:t>plate_no</a:t>
            </a:r>
            <a:endParaRPr lang="en-US" sz="1100" dirty="0"/>
          </a:p>
          <a:p>
            <a:pPr indent="0" marL="0">
              <a:lnSpc>
                <a:spcPts val="1580"/>
              </a:lnSpc>
              <a:buNone/>
            </a:pPr>
            <a:r>
              <a:rPr lang="en-US" sz="1100" dirty="0">
                <a:solidFill>
                  <a:schemeClr val="tx1"/>
                </a:solidFill>
              </a:rPr>
              <a:t>vehicle_type</a:t>
            </a:r>
            <a:endParaRPr lang="en-US" sz="1100" dirty="0"/>
          </a:p>
          <a:p>
            <a:pPr indent="0" marL="0">
              <a:lnSpc>
                <a:spcPts val="1580"/>
              </a:lnSpc>
              <a:buNone/>
            </a:pPr>
            <a:r>
              <a:rPr lang="en-US" sz="1100" dirty="0">
                <a:solidFill>
                  <a:schemeClr val="tx1"/>
                </a:solidFill>
              </a:rPr>
              <a:t>owner_name</a:t>
            </a:r>
            <a:endParaRPr lang="en-US" sz="1100" dirty="0"/>
          </a:p>
          <a:p>
            <a:pPr indent="0" marL="0">
              <a:lnSpc>
                <a:spcPts val="1580"/>
              </a:lnSpc>
              <a:buNone/>
            </a:pPr>
            <a:r>
              <a:rPr lang="en-US" sz="1100" dirty="0">
                <a:solidFill>
                  <a:schemeClr val="tx1"/>
                </a:solidFill>
              </a:rPr>
              <a:t>owner_phone</a:t>
            </a:r>
            <a:endParaRPr lang="en-US" sz="1100" dirty="0"/>
          </a:p>
        </p:txBody>
      </p:sp>
      <p:sp>
        <p:nvSpPr>
          <p:cNvPr id="8" name="Entity ParkingTicket"/>
          <p:cNvSpPr/>
          <p:nvPr/>
        </p:nvSpPr>
        <p:spPr>
          <a:xfrm>
            <a:off x="3474720" y="1234440"/>
            <a:ext cx="2194560" cy="1572768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9" name="Entity header ParkingTicket"/>
          <p:cNvSpPr/>
          <p:nvPr/>
        </p:nvSpPr>
        <p:spPr>
          <a:xfrm>
            <a:off x="3474720" y="1234440"/>
            <a:ext cx="2194560" cy="27432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3474720" y="12344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ParkingTicket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3584448" y="1554480"/>
            <a:ext cx="1975104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80"/>
              </a:lnSpc>
              <a:buNone/>
            </a:pPr>
            <a:r>
              <a:rPr lang="en-US" sz="1100" b="1" dirty="0">
                <a:solidFill>
                  <a:schemeClr val="tx1"/>
                </a:solidFill>
              </a:rPr>
              <a:t>ticket_id (PK)</a:t>
            </a:r>
            <a:endParaRPr lang="en-US" sz="1100" dirty="0"/>
          </a:p>
          <a:p>
            <a:pPr indent="0" marL="0">
              <a:lnSpc>
                <a:spcPts val="1580"/>
              </a:lnSpc>
              <a:buNone/>
            </a:pPr>
            <a:r>
              <a:rPr lang="en-US" sz="1100" dirty="0">
                <a:solidFill>
                  <a:schemeClr val="tx1"/>
                </a:solidFill>
              </a:rPr>
              <a:t>vehicle_id (FK)</a:t>
            </a:r>
            <a:endParaRPr lang="en-US" sz="1100" dirty="0"/>
          </a:p>
          <a:p>
            <a:pPr indent="0" marL="0">
              <a:lnSpc>
                <a:spcPts val="1580"/>
              </a:lnSpc>
              <a:buNone/>
            </a:pPr>
            <a:r>
              <a:rPr lang="en-US" sz="1100" dirty="0">
                <a:solidFill>
                  <a:schemeClr val="tx1"/>
                </a:solidFill>
              </a:rPr>
              <a:t>slot_id (FK)</a:t>
            </a:r>
            <a:endParaRPr lang="en-US" sz="1100" dirty="0"/>
          </a:p>
          <a:p>
            <a:pPr indent="0" marL="0">
              <a:lnSpc>
                <a:spcPts val="1580"/>
              </a:lnSpc>
              <a:buNone/>
            </a:pPr>
            <a:r>
              <a:rPr lang="en-US" sz="1100" dirty="0">
                <a:solidFill>
                  <a:schemeClr val="tx1"/>
                </a:solidFill>
              </a:rPr>
              <a:t>entry_time</a:t>
            </a:r>
            <a:endParaRPr lang="en-US" sz="1100" dirty="0"/>
          </a:p>
          <a:p>
            <a:pPr indent="0" marL="0">
              <a:lnSpc>
                <a:spcPts val="1580"/>
              </a:lnSpc>
              <a:buNone/>
            </a:pPr>
            <a:r>
              <a:rPr lang="en-US" sz="1100" dirty="0">
                <a:solidFill>
                  <a:schemeClr val="tx1"/>
                </a:solidFill>
              </a:rPr>
              <a:t>exit_time</a:t>
            </a:r>
            <a:endParaRPr lang="en-US" sz="1100" dirty="0"/>
          </a:p>
          <a:p>
            <a:pPr indent="0" marL="0">
              <a:lnSpc>
                <a:spcPts val="1580"/>
              </a:lnSpc>
              <a:buNone/>
            </a:pPr>
            <a:r>
              <a:rPr lang="en-US" sz="1100" dirty="0">
                <a:solidFill>
                  <a:schemeClr val="tx1"/>
                </a:solidFill>
              </a:rPr>
              <a:t>status</a:t>
            </a:r>
            <a:endParaRPr lang="en-US" sz="1100" dirty="0"/>
          </a:p>
        </p:txBody>
      </p:sp>
      <p:sp>
        <p:nvSpPr>
          <p:cNvPr id="12" name="Entity ParkingSlot"/>
          <p:cNvSpPr/>
          <p:nvPr/>
        </p:nvSpPr>
        <p:spPr>
          <a:xfrm>
            <a:off x="6492240" y="1234440"/>
            <a:ext cx="2194560" cy="1170432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13" name="Entity header ParkingSlot"/>
          <p:cNvSpPr/>
          <p:nvPr/>
        </p:nvSpPr>
        <p:spPr>
          <a:xfrm>
            <a:off x="6492240" y="1234440"/>
            <a:ext cx="2194560" cy="27432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492240" y="12344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ParkingSlot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6601968" y="1554480"/>
            <a:ext cx="197510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80"/>
              </a:lnSpc>
              <a:buNone/>
            </a:pPr>
            <a:r>
              <a:rPr lang="en-US" sz="1100" b="1" dirty="0">
                <a:solidFill>
                  <a:schemeClr val="tx1"/>
                </a:solidFill>
              </a:rPr>
              <a:t>slot_id (PK)</a:t>
            </a:r>
            <a:endParaRPr lang="en-US" sz="1100" dirty="0"/>
          </a:p>
          <a:p>
            <a:pPr indent="0" marL="0">
              <a:lnSpc>
                <a:spcPts val="1580"/>
              </a:lnSpc>
              <a:buNone/>
            </a:pPr>
            <a:r>
              <a:rPr lang="en-US" sz="1100" dirty="0">
                <a:solidFill>
                  <a:schemeClr val="tx1"/>
                </a:solidFill>
              </a:rPr>
              <a:t>slot_no</a:t>
            </a:r>
            <a:endParaRPr lang="en-US" sz="1100" dirty="0"/>
          </a:p>
          <a:p>
            <a:pPr indent="0" marL="0">
              <a:lnSpc>
                <a:spcPts val="1580"/>
              </a:lnSpc>
              <a:buNone/>
            </a:pPr>
            <a:r>
              <a:rPr lang="en-US" sz="1100" dirty="0">
                <a:solidFill>
                  <a:schemeClr val="tx1"/>
                </a:solidFill>
              </a:rPr>
              <a:t>slot_type</a:t>
            </a:r>
            <a:endParaRPr lang="en-US" sz="1100" dirty="0"/>
          </a:p>
          <a:p>
            <a:pPr indent="0" marL="0">
              <a:lnSpc>
                <a:spcPts val="1580"/>
              </a:lnSpc>
              <a:buNone/>
            </a:pPr>
            <a:r>
              <a:rPr lang="en-US" sz="1100" dirty="0">
                <a:solidFill>
                  <a:schemeClr val="tx1"/>
                </a:solidFill>
              </a:rPr>
              <a:t>status</a:t>
            </a:r>
            <a:endParaRPr lang="en-US" sz="1100" dirty="0"/>
          </a:p>
        </p:txBody>
      </p:sp>
      <p:sp>
        <p:nvSpPr>
          <p:cNvPr id="16" name="Entity Payment"/>
          <p:cNvSpPr/>
          <p:nvPr/>
        </p:nvSpPr>
        <p:spPr>
          <a:xfrm>
            <a:off x="3474720" y="3337560"/>
            <a:ext cx="2194560" cy="137160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17" name="Entity header Payment"/>
          <p:cNvSpPr/>
          <p:nvPr/>
        </p:nvSpPr>
        <p:spPr>
          <a:xfrm>
            <a:off x="3474720" y="3337560"/>
            <a:ext cx="2194560" cy="27432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3474720" y="33375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Payment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3584448" y="3657600"/>
            <a:ext cx="19751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80"/>
              </a:lnSpc>
              <a:buNone/>
            </a:pPr>
            <a:r>
              <a:rPr lang="en-US" sz="1100" b="1" dirty="0">
                <a:solidFill>
                  <a:schemeClr val="tx1"/>
                </a:solidFill>
              </a:rPr>
              <a:t>payment_id (PK)</a:t>
            </a:r>
            <a:endParaRPr lang="en-US" sz="1100" dirty="0"/>
          </a:p>
          <a:p>
            <a:pPr indent="0" marL="0">
              <a:lnSpc>
                <a:spcPts val="1580"/>
              </a:lnSpc>
              <a:buNone/>
            </a:pPr>
            <a:r>
              <a:rPr lang="en-US" sz="1100" dirty="0">
                <a:solidFill>
                  <a:schemeClr val="tx1"/>
                </a:solidFill>
              </a:rPr>
              <a:t>ticket_id (FK)</a:t>
            </a:r>
            <a:endParaRPr lang="en-US" sz="1100" dirty="0"/>
          </a:p>
          <a:p>
            <a:pPr indent="0" marL="0">
              <a:lnSpc>
                <a:spcPts val="1580"/>
              </a:lnSpc>
              <a:buNone/>
            </a:pPr>
            <a:r>
              <a:rPr lang="en-US" sz="1100" dirty="0">
                <a:solidFill>
                  <a:schemeClr val="tx1"/>
                </a:solidFill>
              </a:rPr>
              <a:t>amount</a:t>
            </a:r>
            <a:endParaRPr lang="en-US" sz="1100" dirty="0"/>
          </a:p>
          <a:p>
            <a:pPr indent="0" marL="0">
              <a:lnSpc>
                <a:spcPts val="1580"/>
              </a:lnSpc>
              <a:buNone/>
            </a:pPr>
            <a:r>
              <a:rPr lang="en-US" sz="1100" dirty="0">
                <a:solidFill>
                  <a:schemeClr val="tx1"/>
                </a:solidFill>
              </a:rPr>
              <a:t>pay_mode</a:t>
            </a:r>
            <a:endParaRPr lang="en-US" sz="1100" dirty="0"/>
          </a:p>
          <a:p>
            <a:pPr indent="0" marL="0">
              <a:lnSpc>
                <a:spcPts val="1580"/>
              </a:lnSpc>
              <a:buNone/>
            </a:pPr>
            <a:r>
              <a:rPr lang="en-US" sz="1100" dirty="0">
                <a:solidFill>
                  <a:schemeClr val="tx1"/>
                </a:solidFill>
              </a:rPr>
              <a:t>paid_at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2651760" y="1783080"/>
            <a:ext cx="822960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2697480" y="155448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1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3246120" y="155448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N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5669280" y="1783080"/>
            <a:ext cx="822960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5742432" y="155448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N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6291072" y="155448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1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4572000" y="2788920"/>
            <a:ext cx="0" cy="54864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4645152" y="281635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1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4645152" y="310896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1</a:t>
            </a:r>
            <a:endParaRPr lang="en-US" sz="1000" dirty="0"/>
          </a:p>
        </p:txBody>
      </p:sp>
      <p:sp>
        <p:nvSpPr>
          <p:cNvPr id="29" name="Card"/>
          <p:cNvSpPr/>
          <p:nvPr/>
        </p:nvSpPr>
        <p:spPr>
          <a:xfrm>
            <a:off x="457200" y="3337560"/>
            <a:ext cx="2743200" cy="128016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640080" y="345643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Relationships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640080" y="3730752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Vehicle 1 : N Ticket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Slot 1 : N Ticket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Ticket 1 : 1 Payment</a:t>
            </a:r>
            <a:endParaRPr lang="en-US" sz="1200" dirty="0"/>
          </a:p>
        </p:txBody>
      </p:sp>
      <p:sp>
        <p:nvSpPr>
          <p:cNvPr id="32" name="Card"/>
          <p:cNvSpPr/>
          <p:nvPr/>
        </p:nvSpPr>
        <p:spPr>
          <a:xfrm>
            <a:off x="5943600" y="3337560"/>
            <a:ext cx="2743200" cy="128016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6126480" y="345643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Business rules</a:t>
            </a:r>
            <a:endParaRPr lang="en-US" sz="1200" dirty="0"/>
          </a:p>
        </p:txBody>
      </p:sp>
      <p:sp>
        <p:nvSpPr>
          <p:cNvPr id="34" name="Text 31"/>
          <p:cNvSpPr txBox="1"/>
          <p:nvPr/>
        </p:nvSpPr>
        <p:spPr>
          <a:xfrm>
            <a:off x="6126480" y="3730752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 slot holds one vehicle at a time. A ticket is paid once, at exit.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Relational schema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371600"/>
                <a:gridCol w="2011680"/>
                <a:gridCol w="310896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Table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Primary key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Foreign keys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Purpose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</a:rPr>
                        <a:t>Vehicle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vehicle_id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none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Registered vehicles and owner contact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</a:rPr>
                        <a:t>ParkingSlot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slot_id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none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Slots with type and AVAILABLE / OCCUPIED status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</a:rPr>
                        <a:t>ParkingTicket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ticket_id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vehicle_id, slot_id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One record per parking session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</a:rPr>
                        <a:t>Payment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payment_id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ticket_id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Fee paid for a completed session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457200" y="4206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Review 2 will normalize and extend this schema to eight tables.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System workflow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1887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5"/>
                </a:solidFill>
              </a:rPr>
              <a:t>ENTRY</a:t>
            </a:r>
            <a:endParaRPr lang="en-US" sz="1200" dirty="0"/>
          </a:p>
        </p:txBody>
      </p:sp>
      <p:sp>
        <p:nvSpPr>
          <p:cNvPr id="5" name="Card"/>
          <p:cNvSpPr/>
          <p:nvPr/>
        </p:nvSpPr>
        <p:spPr>
          <a:xfrm>
            <a:off x="457200" y="1463040"/>
            <a:ext cx="182880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/>
        </p:spPr>
      </p:sp>
      <p:sp>
        <p:nvSpPr>
          <p:cNvPr id="6" name="Number badge"/>
          <p:cNvSpPr/>
          <p:nvPr/>
        </p:nvSpPr>
        <p:spPr>
          <a:xfrm>
            <a:off x="566928" y="1572768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566928" y="15727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66928" y="2011680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Vehicle arrives, plate noted</a:t>
            </a:r>
            <a:endParaRPr lang="en-US" sz="1300" dirty="0"/>
          </a:p>
        </p:txBody>
      </p:sp>
      <p:pic>
        <p:nvPicPr>
          <p:cNvPr id="9" name="Image 0" descr="Next step arrow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36292" y="1901952"/>
            <a:ext cx="201168" cy="201168"/>
          </a:xfrm>
          <a:prstGeom prst="rect">
            <a:avLst/>
          </a:prstGeom>
        </p:spPr>
      </p:pic>
      <p:sp>
        <p:nvSpPr>
          <p:cNvPr id="10" name="Card"/>
          <p:cNvSpPr/>
          <p:nvPr/>
        </p:nvSpPr>
        <p:spPr>
          <a:xfrm>
            <a:off x="2587752" y="1463040"/>
            <a:ext cx="182880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/>
        </p:spPr>
      </p:sp>
      <p:sp>
        <p:nvSpPr>
          <p:cNvPr id="11" name="Number badge"/>
          <p:cNvSpPr/>
          <p:nvPr/>
        </p:nvSpPr>
        <p:spPr>
          <a:xfrm>
            <a:off x="2697480" y="1572768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2697480" y="15727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2697480" y="2011680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Free slot found by type</a:t>
            </a:r>
            <a:endParaRPr lang="en-US" sz="1300" dirty="0"/>
          </a:p>
        </p:txBody>
      </p:sp>
      <p:pic>
        <p:nvPicPr>
          <p:cNvPr id="14" name="Image 1" descr="Next step arrow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6844" y="1901952"/>
            <a:ext cx="201168" cy="201168"/>
          </a:xfrm>
          <a:prstGeom prst="rect">
            <a:avLst/>
          </a:prstGeom>
        </p:spPr>
      </p:pic>
      <p:sp>
        <p:nvSpPr>
          <p:cNvPr id="15" name="Card"/>
          <p:cNvSpPr/>
          <p:nvPr/>
        </p:nvSpPr>
        <p:spPr>
          <a:xfrm>
            <a:off x="4718304" y="1463040"/>
            <a:ext cx="182880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/>
        </p:spPr>
      </p:sp>
      <p:sp>
        <p:nvSpPr>
          <p:cNvPr id="16" name="Number badge"/>
          <p:cNvSpPr/>
          <p:nvPr/>
        </p:nvSpPr>
        <p:spPr>
          <a:xfrm>
            <a:off x="4828032" y="1572768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Text 12"/>
          <p:cNvSpPr txBox="1"/>
          <p:nvPr/>
        </p:nvSpPr>
        <p:spPr>
          <a:xfrm>
            <a:off x="4828032" y="15727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3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4828032" y="2011680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Slot assigned, ticket issued</a:t>
            </a:r>
            <a:endParaRPr lang="en-US" sz="1300" dirty="0"/>
          </a:p>
        </p:txBody>
      </p:sp>
      <p:pic>
        <p:nvPicPr>
          <p:cNvPr id="19" name="Image 2" descr="Next step arrow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7396" y="1901952"/>
            <a:ext cx="201168" cy="201168"/>
          </a:xfrm>
          <a:prstGeom prst="rect">
            <a:avLst/>
          </a:prstGeom>
        </p:spPr>
      </p:pic>
      <p:sp>
        <p:nvSpPr>
          <p:cNvPr id="20" name="Card"/>
          <p:cNvSpPr/>
          <p:nvPr/>
        </p:nvSpPr>
        <p:spPr>
          <a:xfrm>
            <a:off x="6848856" y="1463040"/>
            <a:ext cx="182880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/>
        </p:spPr>
      </p:sp>
      <p:sp>
        <p:nvSpPr>
          <p:cNvPr id="21" name="Number badge"/>
          <p:cNvSpPr/>
          <p:nvPr/>
        </p:nvSpPr>
        <p:spPr>
          <a:xfrm>
            <a:off x="6958584" y="1572768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2" name="Text 16"/>
          <p:cNvSpPr txBox="1"/>
          <p:nvPr/>
        </p:nvSpPr>
        <p:spPr>
          <a:xfrm>
            <a:off x="6958584" y="15727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4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6958584" y="2011680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Slot marked OCCUPIED</a:t>
            </a:r>
            <a:endParaRPr lang="en-US" sz="1300" dirty="0"/>
          </a:p>
        </p:txBody>
      </p:sp>
      <p:sp>
        <p:nvSpPr>
          <p:cNvPr id="24" name="Text 18"/>
          <p:cNvSpPr txBox="1"/>
          <p:nvPr/>
        </p:nvSpPr>
        <p:spPr>
          <a:xfrm>
            <a:off x="457200" y="27889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5"/>
                </a:solidFill>
              </a:rPr>
              <a:t>EXIT</a:t>
            </a:r>
            <a:endParaRPr lang="en-US" sz="1200" dirty="0"/>
          </a:p>
        </p:txBody>
      </p:sp>
      <p:sp>
        <p:nvSpPr>
          <p:cNvPr id="25" name="Card"/>
          <p:cNvSpPr/>
          <p:nvPr/>
        </p:nvSpPr>
        <p:spPr>
          <a:xfrm>
            <a:off x="457200" y="3063240"/>
            <a:ext cx="182880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/>
        </p:spPr>
      </p:sp>
      <p:sp>
        <p:nvSpPr>
          <p:cNvPr id="26" name="Number badge"/>
          <p:cNvSpPr/>
          <p:nvPr/>
        </p:nvSpPr>
        <p:spPr>
          <a:xfrm>
            <a:off x="566928" y="3172968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7" name="Text 21"/>
          <p:cNvSpPr txBox="1"/>
          <p:nvPr/>
        </p:nvSpPr>
        <p:spPr>
          <a:xfrm>
            <a:off x="566928" y="3172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5</a:t>
            </a:r>
            <a:endParaRPr lang="en-US" sz="1400" dirty="0"/>
          </a:p>
        </p:txBody>
      </p:sp>
      <p:sp>
        <p:nvSpPr>
          <p:cNvPr id="28" name="Text 22"/>
          <p:cNvSpPr txBox="1"/>
          <p:nvPr/>
        </p:nvSpPr>
        <p:spPr>
          <a:xfrm>
            <a:off x="566928" y="3611880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Exit time recorded</a:t>
            </a:r>
            <a:endParaRPr lang="en-US" sz="1300" dirty="0"/>
          </a:p>
        </p:txBody>
      </p:sp>
      <p:pic>
        <p:nvPicPr>
          <p:cNvPr id="29" name="Image 3" descr="Next step arrow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6292" y="3502152"/>
            <a:ext cx="201168" cy="201168"/>
          </a:xfrm>
          <a:prstGeom prst="rect">
            <a:avLst/>
          </a:prstGeom>
        </p:spPr>
      </p:pic>
      <p:sp>
        <p:nvSpPr>
          <p:cNvPr id="30" name="Card"/>
          <p:cNvSpPr/>
          <p:nvPr/>
        </p:nvSpPr>
        <p:spPr>
          <a:xfrm>
            <a:off x="2587752" y="3063240"/>
            <a:ext cx="182880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/>
        </p:spPr>
      </p:sp>
      <p:sp>
        <p:nvSpPr>
          <p:cNvPr id="31" name="Number badge"/>
          <p:cNvSpPr/>
          <p:nvPr/>
        </p:nvSpPr>
        <p:spPr>
          <a:xfrm>
            <a:off x="2697480" y="3172968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2" name="Text 25"/>
          <p:cNvSpPr txBox="1"/>
          <p:nvPr/>
        </p:nvSpPr>
        <p:spPr>
          <a:xfrm>
            <a:off x="2697480" y="3172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6</a:t>
            </a:r>
            <a:endParaRPr lang="en-US" sz="1400" dirty="0"/>
          </a:p>
        </p:txBody>
      </p:sp>
      <p:sp>
        <p:nvSpPr>
          <p:cNvPr id="33" name="Text 26"/>
          <p:cNvSpPr txBox="1"/>
          <p:nvPr/>
        </p:nvSpPr>
        <p:spPr>
          <a:xfrm>
            <a:off x="2697480" y="3611880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Fee computed from duration</a:t>
            </a:r>
            <a:endParaRPr lang="en-US" sz="1300" dirty="0"/>
          </a:p>
        </p:txBody>
      </p:sp>
      <p:pic>
        <p:nvPicPr>
          <p:cNvPr id="34" name="Image 4" descr="Next step arrow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66844" y="3502152"/>
            <a:ext cx="201168" cy="201168"/>
          </a:xfrm>
          <a:prstGeom prst="rect">
            <a:avLst/>
          </a:prstGeom>
        </p:spPr>
      </p:pic>
      <p:sp>
        <p:nvSpPr>
          <p:cNvPr id="35" name="Card"/>
          <p:cNvSpPr/>
          <p:nvPr/>
        </p:nvSpPr>
        <p:spPr>
          <a:xfrm>
            <a:off x="4718304" y="3063240"/>
            <a:ext cx="182880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/>
        </p:spPr>
      </p:sp>
      <p:sp>
        <p:nvSpPr>
          <p:cNvPr id="36" name="Number badge"/>
          <p:cNvSpPr/>
          <p:nvPr/>
        </p:nvSpPr>
        <p:spPr>
          <a:xfrm>
            <a:off x="4828032" y="3172968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7" name="Text 29"/>
          <p:cNvSpPr txBox="1"/>
          <p:nvPr/>
        </p:nvSpPr>
        <p:spPr>
          <a:xfrm>
            <a:off x="4828032" y="3172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7</a:t>
            </a:r>
            <a:endParaRPr lang="en-US" sz="1400" dirty="0"/>
          </a:p>
        </p:txBody>
      </p:sp>
      <p:sp>
        <p:nvSpPr>
          <p:cNvPr id="38" name="Text 30"/>
          <p:cNvSpPr txBox="1"/>
          <p:nvPr/>
        </p:nvSpPr>
        <p:spPr>
          <a:xfrm>
            <a:off x="4828032" y="3611880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Payment stored</a:t>
            </a:r>
            <a:endParaRPr lang="en-US" sz="1300" dirty="0"/>
          </a:p>
        </p:txBody>
      </p:sp>
      <p:pic>
        <p:nvPicPr>
          <p:cNvPr id="39" name="Image 5" descr="Next step arrow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97396" y="3502152"/>
            <a:ext cx="201168" cy="201168"/>
          </a:xfrm>
          <a:prstGeom prst="rect">
            <a:avLst/>
          </a:prstGeom>
        </p:spPr>
      </p:pic>
      <p:sp>
        <p:nvSpPr>
          <p:cNvPr id="40" name="Card"/>
          <p:cNvSpPr/>
          <p:nvPr/>
        </p:nvSpPr>
        <p:spPr>
          <a:xfrm>
            <a:off x="6848856" y="3063240"/>
            <a:ext cx="182880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/>
        </p:spPr>
      </p:sp>
      <p:sp>
        <p:nvSpPr>
          <p:cNvPr id="41" name="Number badge"/>
          <p:cNvSpPr/>
          <p:nvPr/>
        </p:nvSpPr>
        <p:spPr>
          <a:xfrm>
            <a:off x="6958584" y="3172968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2" name="Text 33"/>
          <p:cNvSpPr txBox="1"/>
          <p:nvPr/>
        </p:nvSpPr>
        <p:spPr>
          <a:xfrm>
            <a:off x="6958584" y="3172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8</a:t>
            </a:r>
            <a:endParaRPr lang="en-US" sz="1400" dirty="0"/>
          </a:p>
        </p:txBody>
      </p:sp>
      <p:sp>
        <p:nvSpPr>
          <p:cNvPr id="43" name="Text 34"/>
          <p:cNvSpPr txBox="1"/>
          <p:nvPr/>
        </p:nvSpPr>
        <p:spPr>
          <a:xfrm>
            <a:off x="6958584" y="3611880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Slot marked AVAILABLE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Tools and technology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457200" y="1371600"/>
            <a:ext cx="1920240" cy="265176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/>
        </p:spPr>
      </p:sp>
      <p:sp>
        <p:nvSpPr>
          <p:cNvPr id="5" name="Icon circle"/>
          <p:cNvSpPr/>
          <p:nvPr/>
        </p:nvSpPr>
        <p:spPr>
          <a:xfrm>
            <a:off x="685800" y="160020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Database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783080"/>
            <a:ext cx="365760" cy="36576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85800" y="25146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RDBMS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685800" y="288036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MySQL 8 stores all parking data.</a:t>
            </a:r>
            <a:endParaRPr lang="en-US" sz="1400" dirty="0"/>
          </a:p>
        </p:txBody>
      </p:sp>
      <p:sp>
        <p:nvSpPr>
          <p:cNvPr id="9" name="Card"/>
          <p:cNvSpPr/>
          <p:nvPr/>
        </p:nvSpPr>
        <p:spPr>
          <a:xfrm>
            <a:off x="2560320" y="1371600"/>
            <a:ext cx="1920240" cy="265176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/>
        </p:spPr>
      </p:sp>
      <p:sp>
        <p:nvSpPr>
          <p:cNvPr id="10" name="Icon circle"/>
          <p:cNvSpPr/>
          <p:nvPr/>
        </p:nvSpPr>
        <p:spPr>
          <a:xfrm>
            <a:off x="2788920" y="160020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mage 1" descr="Code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1800" y="1783080"/>
            <a:ext cx="365760" cy="36576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2788920" y="25146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SQL</a:t>
            </a:r>
            <a:endParaRPr lang="en-US" sz="1600" dirty="0"/>
          </a:p>
        </p:txBody>
      </p:sp>
      <p:sp>
        <p:nvSpPr>
          <p:cNvPr id="13" name="Text 8"/>
          <p:cNvSpPr txBox="1"/>
          <p:nvPr/>
        </p:nvSpPr>
        <p:spPr>
          <a:xfrm>
            <a:off x="2788920" y="288036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DDL, queries, procedures and triggers.</a:t>
            </a:r>
            <a:endParaRPr lang="en-US" sz="1400" dirty="0"/>
          </a:p>
        </p:txBody>
      </p:sp>
      <p:sp>
        <p:nvSpPr>
          <p:cNvPr id="14" name="Card"/>
          <p:cNvSpPr/>
          <p:nvPr/>
        </p:nvSpPr>
        <p:spPr>
          <a:xfrm>
            <a:off x="4663440" y="1371600"/>
            <a:ext cx="1920240" cy="265176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/>
        </p:spPr>
      </p:sp>
      <p:sp>
        <p:nvSpPr>
          <p:cNvPr id="15" name="Icon circle"/>
          <p:cNvSpPr/>
          <p:nvPr/>
        </p:nvSpPr>
        <p:spPr>
          <a:xfrm>
            <a:off x="4892040" y="160020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Image 2" descr="Desktop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920" y="1783080"/>
            <a:ext cx="365760" cy="36576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4892040" y="25146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Front end</a:t>
            </a:r>
            <a:endParaRPr lang="en-US" sz="1600" dirty="0"/>
          </a:p>
        </p:txBody>
      </p:sp>
      <p:sp>
        <p:nvSpPr>
          <p:cNvPr id="18" name="Text 12"/>
          <p:cNvSpPr txBox="1"/>
          <p:nvPr/>
        </p:nvSpPr>
        <p:spPr>
          <a:xfrm>
            <a:off x="4892040" y="288036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Simple forms (Python or Java) for entry and exit.</a:t>
            </a:r>
            <a:endParaRPr lang="en-US" sz="1400" dirty="0"/>
          </a:p>
        </p:txBody>
      </p:sp>
      <p:sp>
        <p:nvSpPr>
          <p:cNvPr id="19" name="Card"/>
          <p:cNvSpPr/>
          <p:nvPr/>
        </p:nvSpPr>
        <p:spPr>
          <a:xfrm>
            <a:off x="6766560" y="1371600"/>
            <a:ext cx="1920240" cy="265176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/>
        </p:spPr>
      </p:sp>
      <p:sp>
        <p:nvSpPr>
          <p:cNvPr id="20" name="Icon circle"/>
          <p:cNvSpPr/>
          <p:nvPr/>
        </p:nvSpPr>
        <p:spPr>
          <a:xfrm>
            <a:off x="6995160" y="160020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1" name="Image 3" descr="ProjectDiagram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8040" y="1783080"/>
            <a:ext cx="365760" cy="36576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6995160" y="25146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Design tools</a:t>
            </a:r>
            <a:endParaRPr lang="en-US" sz="1600" dirty="0"/>
          </a:p>
        </p:txBody>
      </p:sp>
      <p:sp>
        <p:nvSpPr>
          <p:cNvPr id="23" name="Text 16"/>
          <p:cNvSpPr txBox="1"/>
          <p:nvPr/>
        </p:nvSpPr>
        <p:spPr>
          <a:xfrm>
            <a:off x="6995160" y="288036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MySQL Workbench or draw.io for ER diagrams.</a:t>
            </a:r>
            <a:endParaRPr lang="en-US" sz="1400" dirty="0"/>
          </a:p>
        </p:txBody>
      </p:sp>
      <p:sp>
        <p:nvSpPr>
          <p:cNvPr id="24" name="Text 17"/>
          <p:cNvSpPr txBox="1"/>
          <p:nvPr/>
        </p:nvSpPr>
        <p:spPr>
          <a:xfrm>
            <a:off x="457200" y="4251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Design stays independent of the front end: all rules will live in the database.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40080" y="4114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Summary and next steps</a:t>
            </a:r>
            <a:endParaRPr lang="en-US" sz="3000" dirty="0"/>
          </a:p>
        </p:txBody>
      </p:sp>
      <p:sp>
        <p:nvSpPr>
          <p:cNvPr id="4" name="Icon circle"/>
          <p:cNvSpPr/>
          <p:nvPr/>
        </p:nvSpPr>
        <p:spPr>
          <a:xfrm>
            <a:off x="640080" y="14173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mage 0" descr="Check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" y="1531620"/>
            <a:ext cx="228600" cy="2286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325880" y="141732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Problem statement and objectives defined</a:t>
            </a:r>
            <a:endParaRPr lang="en-US" sz="1800" dirty="0"/>
          </a:p>
        </p:txBody>
      </p:sp>
      <p:sp>
        <p:nvSpPr>
          <p:cNvPr id="7" name="Icon circle"/>
          <p:cNvSpPr/>
          <p:nvPr/>
        </p:nvSpPr>
        <p:spPr>
          <a:xfrm>
            <a:off x="640080" y="20574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8" name="Image 1" descr="Check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" y="2171700"/>
            <a:ext cx="228600" cy="22860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325880" y="205740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Requirements and workflow documented</a:t>
            </a:r>
            <a:endParaRPr lang="en-US" sz="1800" dirty="0"/>
          </a:p>
        </p:txBody>
      </p:sp>
      <p:sp>
        <p:nvSpPr>
          <p:cNvPr id="10" name="Icon circle"/>
          <p:cNvSpPr/>
          <p:nvPr/>
        </p:nvSpPr>
        <p:spPr>
          <a:xfrm>
            <a:off x="640080" y="26974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mage 2" descr="Check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" y="2811780"/>
            <a:ext cx="228600" cy="228600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325880" y="269748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ER diagram and four-table schema designed</a:t>
            </a:r>
            <a:endParaRPr lang="en-US" sz="1800" dirty="0"/>
          </a:p>
        </p:txBody>
      </p:sp>
      <p:sp>
        <p:nvSpPr>
          <p:cNvPr id="13" name="Next card"/>
          <p:cNvSpPr/>
          <p:nvPr/>
        </p:nvSpPr>
        <p:spPr>
          <a:xfrm>
            <a:off x="640080" y="3429000"/>
            <a:ext cx="7863840" cy="1097280"/>
          </a:xfrm>
          <a:prstGeom prst="roundRect">
            <a:avLst>
              <a:gd name="adj" fmla="val 8333"/>
            </a:avLst>
          </a:prstGeom>
          <a:solidFill>
            <a:schemeClr val="tx2"/>
          </a:solidFill>
          <a:ln/>
        </p:spPr>
      </p:sp>
      <p:sp>
        <p:nvSpPr>
          <p:cNvPr id="14" name="Text 8"/>
          <p:cNvSpPr txBox="1"/>
          <p:nvPr/>
        </p:nvSpPr>
        <p:spPr>
          <a:xfrm>
            <a:off x="914400" y="35661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Next: Review 2</a:t>
            </a:r>
            <a:endParaRPr lang="en-US" sz="1600" dirty="0"/>
          </a:p>
        </p:txBody>
      </p:sp>
      <p:sp>
        <p:nvSpPr>
          <p:cNvPr id="15" name="Text 9"/>
          <p:cNvSpPr txBox="1"/>
          <p:nvPr/>
        </p:nvSpPr>
        <p:spPr>
          <a:xfrm>
            <a:off x="914400" y="39319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Normalization, eight-table schema, smart allocation, billing logic, triggers and test cases.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mart Parking">
  <a:themeElements>
    <a:clrScheme name="Smart Parking">
      <a:dk1>
        <a:srgbClr val="14213D"/>
      </a:dk1>
      <a:lt1>
        <a:srgbClr val="FFFFFF"/>
      </a:lt1>
      <a:dk2>
        <a:srgbClr val="1D3557"/>
      </a:dk2>
      <a:lt2>
        <a:srgbClr val="EEF2F7"/>
      </a:lt2>
      <a:accent1>
        <a:srgbClr val="FCA311"/>
      </a:accent1>
      <a:accent2>
        <a:srgbClr val="2A9D8F"/>
      </a:accent2>
      <a:accent3>
        <a:srgbClr val="3A6EA5"/>
      </a:accent3>
      <a:accent4>
        <a:srgbClr val="C8553D"/>
      </a:accent4>
      <a:accent5>
        <a:srgbClr val="4F5D75"/>
      </a:accent5>
      <a:accent6>
        <a:srgbClr val="8AB17D"/>
      </a:accent6>
      <a:hlink>
        <a:srgbClr val="3A6EA5"/>
      </a:hlink>
      <a:folHlink>
        <a:srgbClr val="4F5D75"/>
      </a:folHlink>
    </a:clrScheme>
    <a:fontScheme name="Smart Parking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Parking DBMS - Review 1</dc:title>
  <dc:subject>PptxGenJS Presentation</dc:subject>
  <dc:creator>PptxGenJS</dc:creator>
  <cp:lastModifiedBy>PptxGenJS</cp:lastModifiedBy>
  <cp:revision>1</cp:revision>
  <dcterms:created xsi:type="dcterms:W3CDTF">2026-10-13T21:40:20Z</dcterms:created>
  <dcterms:modified xsi:type="dcterms:W3CDTF">2026-10-13T21:40:20Z</dcterms:modified>
</cp:coreProperties>
</file>